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AFEgWzmqTZv6Hc+ioPZYvpiutH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박동요"/>
  <p:cmAuthor clrIdx="1" id="1" initials="" lastIdx="3" name="류세빈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0DA80B-8825-4231-A2D5-F9500E8428DA}">
  <a:tblStyle styleId="{A40DA80B-8825-4231-A2D5-F9500E8428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4-03T01:09:09.131">
    <p:pos x="3364" y="2539"/>
    <p:text>리셋버튼 비활성화 처리를 위한 텍스쳐 또는 머티리얼이 필요할 것 같습니다.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hYAak3c"/>
      </p:ext>
    </p:extLst>
  </p:cm>
  <p:cm authorId="1" idx="1" dt="2025-04-01T23:33:55.674">
    <p:pos x="3364" y="2539"/>
    <p:text>비활성화 처리를 위한 텍스쳐 추가 요청 컨셉 기획서에 추가해두겠습니다
1 total reaction
박동요 reacted with 👍 at 2025-04-02 18:09 PM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hZhrGCU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5-04-03T01:08:44.350">
    <p:pos x="6000" y="0"/>
    <p:text>인터렉션시 사운드 피드백도 추가하고, hover 할때 약한 햅틱, 사운드 피드백, 시각적 피드백이 함께 있었으면 좋을것 같습니다.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hYAak3Y"/>
      </p:ext>
    </p:extLst>
  </p:cm>
  <p:cm authorId="0" idx="3" dt="2025-04-03T01:09:03.836">
    <p:pos x="6000" y="100"/>
    <p:text>파란색 인터렉션 구가 다른데서는 grab인터렉션에 사용하고 있는데 여기서는 다른 동작인데 사용해도 괜찮을지 궁금합니다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hYAak3U"/>
      </p:ext>
    </p:extLst>
  </p:cm>
  <p:cm authorId="1" idx="2" dt="2025-04-01T23:35:21.130">
    <p:pos x="6000" y="100"/>
    <p:text>UX적으로 혼동이 있을 수 있을 것 같습니다. 수정하여 업데이트하겠습니다.
1 total reaction
박동요 reacted with 👍 at 2025-04-02 18:09 PM</p:text>
    <p:extLst>
      <p:ext uri="{C676402C-5697-4E1C-873F-D02D1690AC5C}">
        <p15:threadingInfo timeZoneBias="0">
          <p15:parentCm authorId="0" idx="3"/>
        </p15:threadingInfo>
      </p:ext>
      <p:ext uri="http://customooxmlschemas.google.com/">
        <go:slidesCustomData xmlns:go="http://customooxmlschemas.google.com/" commentPostId="AAABhZpQMtk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5-04-03T01:08:58.693">
    <p:pos x="4413" y="1185"/>
    <p:text>챕터, 레벨 사이즈가 ObjectData에 필요한지 궁금합니다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hXRwYus"/>
      </p:ext>
    </p:extLst>
  </p:cm>
  <p:cm authorId="1" idx="3" dt="2025-04-01T23:35:35.449">
    <p:pos x="4413" y="1185"/>
    <p:text>챕터는 오브젝트 ID에 포함되는 내용으로 기획안에 추가해두었다 생각해주시면 될 것 같습니다. 그룹 ID에 중복될 수 있다는 피드백을 주셔서 우선 챕터는 생각하지 않아주셔도 됩니다.
레벨 사이즈는 각 오브젝트가 레벨에 올라갔을 때 사이즈라고 생각해주시면 됩니다. (X축, Y축, Z축 사이즈)
1 total reaction
박동요 reacted with 👍 at 2025-04-02 18:08 PM</p:text>
    <p:extLst>
      <p:ext uri="{C676402C-5697-4E1C-873F-D02D1690AC5C}">
        <p15:threadingInfo timeZoneBias="0">
          <p15:parentCm authorId="0" idx="4"/>
        </p15:threadingInfo>
      </p:ext>
      <p:ext uri="http://customooxmlschemas.google.com/">
        <go:slidesCustomData xmlns:go="http://customooxmlschemas.google.com/" commentPostId="AAABhZpQMto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33ac48a28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433ac48a28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33ac48a28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433ac48a28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33ac48a28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433ac48a28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387bb352b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4387bb352b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4387bb352b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g34387bb352b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4387bb352b_0_2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g34387bb352b_0_2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4387bb352b_0_2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4387bb352b_0_2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4387bb352b_0_3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g34387bb352b_0_3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4387bb352b_0_4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g34387bb352b_0_4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4387bb352b_0_1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g34387bb352b_0_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4387bb352b_0_4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g34387bb352b_0_4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2"/>
          <p:cNvSpPr txBox="1"/>
          <p:nvPr>
            <p:ph idx="12" type="sldNum"/>
          </p:nvPr>
        </p:nvSpPr>
        <p:spPr>
          <a:xfrm>
            <a:off x="9448800" y="-13155"/>
            <a:ext cx="274320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3"/>
          <p:cNvSpPr txBox="1"/>
          <p:nvPr>
            <p:ph idx="11" type="ftr"/>
          </p:nvPr>
        </p:nvSpPr>
        <p:spPr>
          <a:xfrm>
            <a:off x="86711" y="476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3"/>
          <p:cNvSpPr txBox="1"/>
          <p:nvPr>
            <p:ph idx="12" type="sldNum"/>
          </p:nvPr>
        </p:nvSpPr>
        <p:spPr>
          <a:xfrm>
            <a:off x="9448800" y="3175"/>
            <a:ext cx="2743200" cy="227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4"/>
          <p:cNvSpPr txBox="1"/>
          <p:nvPr>
            <p:ph idx="12" type="sldNum"/>
          </p:nvPr>
        </p:nvSpPr>
        <p:spPr>
          <a:xfrm>
            <a:off x="9448800" y="-13155"/>
            <a:ext cx="274320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6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5"/>
          <p:cNvSpPr txBox="1"/>
          <p:nvPr>
            <p:ph idx="12" type="sldNum"/>
          </p:nvPr>
        </p:nvSpPr>
        <p:spPr>
          <a:xfrm>
            <a:off x="9448800" y="-13155"/>
            <a:ext cx="274320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6"/>
          <p:cNvSpPr txBox="1"/>
          <p:nvPr>
            <p:ph idx="12" type="sldNum"/>
          </p:nvPr>
        </p:nvSpPr>
        <p:spPr>
          <a:xfrm>
            <a:off x="9448800" y="-13155"/>
            <a:ext cx="274320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7"/>
          <p:cNvSpPr txBox="1"/>
          <p:nvPr>
            <p:ph idx="12" type="sldNum"/>
          </p:nvPr>
        </p:nvSpPr>
        <p:spPr>
          <a:xfrm>
            <a:off x="9448800" y="-13155"/>
            <a:ext cx="274320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8"/>
          <p:cNvSpPr txBox="1"/>
          <p:nvPr>
            <p:ph idx="12" type="sldNum"/>
          </p:nvPr>
        </p:nvSpPr>
        <p:spPr>
          <a:xfrm>
            <a:off x="9448800" y="-13155"/>
            <a:ext cx="274320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6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9"/>
          <p:cNvSpPr txBox="1"/>
          <p:nvPr>
            <p:ph idx="12" type="sldNum"/>
          </p:nvPr>
        </p:nvSpPr>
        <p:spPr>
          <a:xfrm>
            <a:off x="9448800" y="-13155"/>
            <a:ext cx="274320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7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0"/>
          <p:cNvSpPr txBox="1"/>
          <p:nvPr>
            <p:ph idx="12" type="sldNum"/>
          </p:nvPr>
        </p:nvSpPr>
        <p:spPr>
          <a:xfrm>
            <a:off x="9448800" y="-13155"/>
            <a:ext cx="274320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1"/>
          <p:cNvSpPr txBox="1"/>
          <p:nvPr>
            <p:ph idx="12" type="sldNum"/>
          </p:nvPr>
        </p:nvSpPr>
        <p:spPr>
          <a:xfrm>
            <a:off x="9448800" y="-13155"/>
            <a:ext cx="274320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2"/>
          <p:cNvSpPr txBox="1"/>
          <p:nvPr>
            <p:ph idx="12" type="sldNum"/>
          </p:nvPr>
        </p:nvSpPr>
        <p:spPr>
          <a:xfrm>
            <a:off x="9448800" y="-13155"/>
            <a:ext cx="274320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61"/>
          <p:cNvSpPr txBox="1"/>
          <p:nvPr>
            <p:ph idx="12" type="sldNum"/>
          </p:nvPr>
        </p:nvSpPr>
        <p:spPr>
          <a:xfrm>
            <a:off x="9448800" y="-13155"/>
            <a:ext cx="274320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mailto:sbryu@newmatic.kr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12.png"/><Relationship Id="rId5" Type="http://schemas.openxmlformats.org/officeDocument/2006/relationships/hyperlink" Target="https://docs.google.com/presentation/d/1UgHPCOm-EPkflFJ2X8-fKZ2iozMmvFpb/edit#slide=id.g34330abc0c9_0_119" TargetMode="External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2.xml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5019" y="1827108"/>
            <a:ext cx="5881962" cy="137009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3217933" y="3660797"/>
            <a:ext cx="57561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PUZ_</a:t>
            </a:r>
            <a:r>
              <a:rPr b="1" lang="en-US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맞추기 퍼즐</a:t>
            </a:r>
            <a:r>
              <a:rPr b="1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</a:t>
            </a:r>
            <a:r>
              <a:rPr b="1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기획서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8879767" y="6179874"/>
            <a:ext cx="3157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sng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4"/>
              </a:rPr>
              <a:t>sbryu@newmatic.kr</a:t>
            </a:r>
            <a:endParaRPr b="1"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latin typeface="Malgun Gothic"/>
                <a:ea typeface="Malgun Gothic"/>
                <a:cs typeface="Malgun Gothic"/>
                <a:sym typeface="Malgun Gothic"/>
              </a:rPr>
              <a:t>류세빈</a:t>
            </a:r>
            <a:endParaRPr b="1" sz="16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" name="Google Shape;89;p1"/>
          <p:cNvSpPr txBox="1"/>
          <p:nvPr>
            <p:ph idx="12" type="sldNum"/>
          </p:nvPr>
        </p:nvSpPr>
        <p:spPr>
          <a:xfrm>
            <a:off x="9448800" y="-13155"/>
            <a:ext cx="274320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7979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Ver.</a:t>
            </a:r>
            <a:endParaRPr b="1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369487" y="1105937"/>
            <a:ext cx="8379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1.0.0 | 2</a:t>
            </a: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.0</a:t>
            </a: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24</a:t>
            </a: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| </a:t>
            </a: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류세빈</a:t>
            </a: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| 초안 작성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Google Shape;100;p2"/>
          <p:cNvSpPr txBox="1"/>
          <p:nvPr>
            <p:ph idx="12" type="sldNum"/>
          </p:nvPr>
        </p:nvSpPr>
        <p:spPr>
          <a:xfrm>
            <a:off x="9448800" y="3175"/>
            <a:ext cx="2743200" cy="227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"/>
          <p:cNvSpPr txBox="1"/>
          <p:nvPr>
            <p:ph idx="11" type="ftr"/>
          </p:nvPr>
        </p:nvSpPr>
        <p:spPr>
          <a:xfrm>
            <a:off x="86711" y="476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PUZ_카드 맞추기 퍼즐 시스템 기획서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7979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문서의 목적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369486" y="1105937"/>
            <a:ext cx="10603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카드 맞추기 퍼즐의 시스템 기획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lgun Gothic"/>
              <a:buChar char="•"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개별 퍼즐에 대한 세부 기획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lgun Gothic"/>
              <a:buChar char="•"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데이터 테이블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3"/>
          <p:cNvSpPr txBox="1"/>
          <p:nvPr>
            <p:ph idx="12" type="sldNum"/>
          </p:nvPr>
        </p:nvSpPr>
        <p:spPr>
          <a:xfrm>
            <a:off x="9448800" y="3175"/>
            <a:ext cx="2743200" cy="227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3"/>
          <p:cNvSpPr txBox="1"/>
          <p:nvPr>
            <p:ph idx="11" type="ftr"/>
          </p:nvPr>
        </p:nvSpPr>
        <p:spPr>
          <a:xfrm>
            <a:off x="86711" y="4762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PUZ_카드 맞추기 퍼즐 시스템 기획서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33ac48a28_0_5"/>
          <p:cNvSpPr/>
          <p:nvPr/>
        </p:nvSpPr>
        <p:spPr>
          <a:xfrm>
            <a:off x="0" y="6661463"/>
            <a:ext cx="12192000" cy="196500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19;g3433ac48a28_0_5"/>
          <p:cNvSpPr/>
          <p:nvPr/>
        </p:nvSpPr>
        <p:spPr>
          <a:xfrm>
            <a:off x="0" y="0"/>
            <a:ext cx="12192000" cy="196500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20;g3433ac48a28_0_5"/>
          <p:cNvSpPr txBox="1"/>
          <p:nvPr/>
        </p:nvSpPr>
        <p:spPr>
          <a:xfrm>
            <a:off x="5463375" y="6628926"/>
            <a:ext cx="126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1" name="Google Shape;121;g3433ac48a28_0_5"/>
          <p:cNvPicPr preferRelativeResize="0"/>
          <p:nvPr/>
        </p:nvPicPr>
        <p:blipFill rotWithShape="1">
          <a:blip r:embed="rId4">
            <a:alphaModFix/>
          </a:blip>
          <a:srcRect b="0" l="0" r="0" t="7978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433ac48a28_0_5"/>
          <p:cNvSpPr txBox="1"/>
          <p:nvPr/>
        </p:nvSpPr>
        <p:spPr>
          <a:xfrm>
            <a:off x="157882" y="624365"/>
            <a:ext cx="315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카드 맞추기 퍼즐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433ac48a28_0_5"/>
          <p:cNvSpPr txBox="1"/>
          <p:nvPr>
            <p:ph idx="12" type="sldNum"/>
          </p:nvPr>
        </p:nvSpPr>
        <p:spPr>
          <a:xfrm>
            <a:off x="9448800" y="3175"/>
            <a:ext cx="2743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g3433ac48a28_0_5"/>
          <p:cNvSpPr txBox="1"/>
          <p:nvPr>
            <p:ph idx="11" type="ftr"/>
          </p:nvPr>
        </p:nvSpPr>
        <p:spPr>
          <a:xfrm>
            <a:off x="86711" y="4762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PUZ_카드 맞추기 퍼즐 시스템 기획서</a:t>
            </a:r>
            <a:endParaRPr/>
          </a:p>
        </p:txBody>
      </p:sp>
      <p:pic>
        <p:nvPicPr>
          <p:cNvPr id="125" name="Google Shape;125;g3433ac48a28_0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9475" y="1250485"/>
            <a:ext cx="4049099" cy="269724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433ac48a28_0_5"/>
          <p:cNvSpPr txBox="1"/>
          <p:nvPr/>
        </p:nvSpPr>
        <p:spPr>
          <a:xfrm>
            <a:off x="369482" y="4030972"/>
            <a:ext cx="40491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Malgun Gothic"/>
                <a:ea typeface="Malgun Gothic"/>
                <a:cs typeface="Malgun Gothic"/>
                <a:sym typeface="Malgun Gothic"/>
              </a:rPr>
              <a:t>퍼즐 컨셉</a:t>
            </a:r>
            <a:endParaRPr b="1"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lgun Gothic"/>
              <a:buChar char="●"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뒷면으로 덮인 상태의 카드를 한 장씩 뒤집으며 카드의 짝을 구분하는 퍼즐과 동일한 규칙을 사용한다.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lgun Gothic"/>
              <a:buChar char="●"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카드는 [포탈 타일]이 대신하며, [포탈 타일]을 활성화하면 나오는 [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오브젝트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]를 모두 맞추는 것이 플레이어의 목표이다.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lgun Gothic"/>
              <a:buChar char="●"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[포탄 타일] 중에는 [폭탄]이 있다. [폭탄]을 발견하면 [포탈 타일]에 배치된 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오브젝트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의 위치가 랜덤으로 변경된다.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g3433ac48a28_0_5"/>
          <p:cNvSpPr txBox="1"/>
          <p:nvPr/>
        </p:nvSpPr>
        <p:spPr>
          <a:xfrm>
            <a:off x="5341425" y="4030975"/>
            <a:ext cx="48564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Malgun Gothic"/>
                <a:ea typeface="Malgun Gothic"/>
                <a:cs typeface="Malgun Gothic"/>
                <a:sym typeface="Malgun Gothic"/>
              </a:rPr>
              <a:t>퍼즐 </a:t>
            </a:r>
            <a:r>
              <a:rPr b="1" lang="en-US" sz="1000">
                <a:latin typeface="Malgun Gothic"/>
                <a:ea typeface="Malgun Gothic"/>
                <a:cs typeface="Malgun Gothic"/>
                <a:sym typeface="Malgun Gothic"/>
              </a:rPr>
              <a:t>규칙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lgun Gothic"/>
              <a:buChar char="●"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카드는 [포탈 타일]이 대신하며, [포탈 타일]을 활성화하면 나오는 [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오브젝트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]를 모두 맞추는 것이 플레이어의 목표이다.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lgun Gothic"/>
              <a:buChar char="●"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[포탄 타일] 중에는 [폭탄]이 있다. [폭탄]을 발견하면 [포탈 타일]에 배치된 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오브젝트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의 위치가 랜덤으로 변경된다.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lgun Gothic"/>
              <a:buChar char="●"/>
            </a:pPr>
            <a:r>
              <a:rPr b="1" lang="en-US" sz="1000">
                <a:latin typeface="Malgun Gothic"/>
                <a:ea typeface="Malgun Gothic"/>
                <a:cs typeface="Malgun Gothic"/>
                <a:sym typeface="Malgun Gothic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카드 맞추기 퍼즐 중에는 리셋을 할 수 없다. (폭탄이 리셋의 역할을 대신하기 때문)</a:t>
            </a:r>
            <a:endParaRPr b="1"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Malgun Gothic"/>
                <a:ea typeface="Malgun Gothic"/>
                <a:cs typeface="Malgun Gothic"/>
                <a:sym typeface="Malgun Gothic"/>
              </a:rPr>
              <a:t>리셋 버튼을 눌러도 상호작용이 되지 않는다.</a:t>
            </a:r>
            <a:endParaRPr b="1"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8" name="Google Shape;128;g3433ac48a28_0_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1425" y="1250475"/>
            <a:ext cx="4856521" cy="269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33ac48a28_0_20"/>
          <p:cNvSpPr/>
          <p:nvPr/>
        </p:nvSpPr>
        <p:spPr>
          <a:xfrm>
            <a:off x="0" y="6661463"/>
            <a:ext cx="12192000" cy="196500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" name="Google Shape;134;g3433ac48a28_0_20"/>
          <p:cNvSpPr/>
          <p:nvPr/>
        </p:nvSpPr>
        <p:spPr>
          <a:xfrm>
            <a:off x="0" y="0"/>
            <a:ext cx="12192000" cy="196500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135;g3433ac48a28_0_20"/>
          <p:cNvSpPr txBox="1"/>
          <p:nvPr/>
        </p:nvSpPr>
        <p:spPr>
          <a:xfrm>
            <a:off x="5463375" y="6628926"/>
            <a:ext cx="126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6" name="Google Shape;136;g3433ac48a28_0_20"/>
          <p:cNvPicPr preferRelativeResize="0"/>
          <p:nvPr/>
        </p:nvPicPr>
        <p:blipFill rotWithShape="1">
          <a:blip r:embed="rId3">
            <a:alphaModFix/>
          </a:blip>
          <a:srcRect b="0" l="0" r="0" t="7978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433ac48a28_0_20"/>
          <p:cNvSpPr txBox="1"/>
          <p:nvPr/>
        </p:nvSpPr>
        <p:spPr>
          <a:xfrm>
            <a:off x="157882" y="624365"/>
            <a:ext cx="315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카드 맞추기 퍼즐 </a:t>
            </a: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433ac48a28_0_20"/>
          <p:cNvSpPr txBox="1"/>
          <p:nvPr>
            <p:ph idx="12" type="sldNum"/>
          </p:nvPr>
        </p:nvSpPr>
        <p:spPr>
          <a:xfrm>
            <a:off x="9448800" y="3175"/>
            <a:ext cx="2743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g3433ac48a28_0_20"/>
          <p:cNvSpPr txBox="1"/>
          <p:nvPr>
            <p:ph idx="11" type="ftr"/>
          </p:nvPr>
        </p:nvSpPr>
        <p:spPr>
          <a:xfrm>
            <a:off x="86711" y="4762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PUZ_카드 맞추기 퍼즐 시스템 기획서</a:t>
            </a:r>
            <a:endParaRPr/>
          </a:p>
        </p:txBody>
      </p:sp>
      <p:sp>
        <p:nvSpPr>
          <p:cNvPr id="140" name="Google Shape;140;g3433ac48a28_0_20"/>
          <p:cNvSpPr txBox="1"/>
          <p:nvPr/>
        </p:nvSpPr>
        <p:spPr>
          <a:xfrm>
            <a:off x="369475" y="1108050"/>
            <a:ext cx="93765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lgun Gothic"/>
              <a:buChar char="●"/>
            </a:pPr>
            <a:r>
              <a:rPr b="1" lang="en-US" sz="1000">
                <a:latin typeface="Malgun Gothic"/>
                <a:ea typeface="Malgun Gothic"/>
                <a:cs typeface="Malgun Gothic"/>
                <a:sym typeface="Malgun Gothic"/>
              </a:rPr>
              <a:t>클리어 조건</a:t>
            </a:r>
            <a:endParaRPr b="1"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폭탄 외 모든 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오브젝트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의 짝을 맞추어 레벨에서 제거하면 클리어한다. 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lgun Gothic"/>
              <a:buChar char="●"/>
            </a:pPr>
            <a:r>
              <a:rPr b="1" lang="en-US" sz="1000">
                <a:latin typeface="Malgun Gothic"/>
                <a:ea typeface="Malgun Gothic"/>
                <a:cs typeface="Malgun Gothic"/>
                <a:sym typeface="Malgun Gothic"/>
              </a:rPr>
              <a:t>실패 조건</a:t>
            </a:r>
            <a:endParaRPr b="1"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제한 시간 내 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오브젝트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의 짝을 맞추지 못하면 실패한다.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lgun Gothic"/>
              <a:buChar char="●"/>
            </a:pPr>
            <a:r>
              <a:rPr b="1" lang="en-US" sz="1000">
                <a:latin typeface="Malgun Gothic"/>
                <a:ea typeface="Malgun Gothic"/>
                <a:cs typeface="Malgun Gothic"/>
                <a:sym typeface="Malgun Gothic"/>
              </a:rPr>
              <a:t>기본 시스템</a:t>
            </a:r>
            <a:endParaRPr b="1"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21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lgun Gothic"/>
              <a:buAutoNum type="arabicPeriod"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포탈 타일이 표시됨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21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lgun Gothic"/>
              <a:buAutoNum type="arabicPeriod"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포탈을 활성화하면 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오브젝트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 또는 폭탄이 등장함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폭탄일 경우 포탈 타일이 비활성화되고 오브젝트들의 위치가 랜덤으로 변경됨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포탈 타일은 한 번에 최대 2개까지 활성화 가능함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21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lgun Gothic"/>
              <a:buAutoNum type="arabicPeriod"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두 번째 포탈을 활성화하면 결과를 결정함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첫 번째와 같은 오브젝트일 경우, 포탈 타일이 완료 상태로 변함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첫 번째와 다른 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오브젝트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일 경우, 포탈 타일이 기본 상태로 돌아감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폭탄일 경우, 2와 같음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21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lgun Gothic"/>
              <a:buAutoNum type="arabicPeriod"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남은 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오브젝트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를 확인함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폭탄 타일을 제외한 모든 타일을 완료상태로 만들면 게임이 클리어됨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남은 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오브젝트</a:t>
            </a: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가 있으면 다시 포탈 타일을 표시함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Malgun Gothic"/>
                <a:ea typeface="Malgun Gothic"/>
                <a:cs typeface="Malgun Gothic"/>
                <a:sym typeface="Malgun Gothic"/>
              </a:rPr>
              <a:t>예외 처리</a:t>
            </a:r>
            <a:endParaRPr b="1"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하나의 포탈 타일을 활성화 하는 중에 두 번째 포탈을 활성화하는 것도 가능함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단, 포탈에서 활성화 된 오브젝트가 폭탄인 경우에는 플레이어의 조작이 불가함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Malgun Gothic"/>
                <a:ea typeface="Malgun Gothic"/>
                <a:cs typeface="Malgun Gothic"/>
                <a:sym typeface="Malgun Gothic"/>
              </a:rPr>
              <a:t>포탈을 동시에 활성화하는 것은 불가능함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33ac48a28_0_35"/>
          <p:cNvSpPr/>
          <p:nvPr/>
        </p:nvSpPr>
        <p:spPr>
          <a:xfrm>
            <a:off x="0" y="6661463"/>
            <a:ext cx="12192000" cy="196500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g3433ac48a28_0_35"/>
          <p:cNvSpPr/>
          <p:nvPr/>
        </p:nvSpPr>
        <p:spPr>
          <a:xfrm>
            <a:off x="0" y="0"/>
            <a:ext cx="12192000" cy="196500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" name="Google Shape;147;g3433ac48a28_0_35"/>
          <p:cNvSpPr txBox="1"/>
          <p:nvPr/>
        </p:nvSpPr>
        <p:spPr>
          <a:xfrm>
            <a:off x="5463375" y="6628926"/>
            <a:ext cx="126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8" name="Google Shape;148;g3433ac48a28_0_35"/>
          <p:cNvPicPr preferRelativeResize="0"/>
          <p:nvPr/>
        </p:nvPicPr>
        <p:blipFill rotWithShape="1">
          <a:blip r:embed="rId3">
            <a:alphaModFix/>
          </a:blip>
          <a:srcRect b="0" l="0" r="0" t="7978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433ac48a28_0_35"/>
          <p:cNvSpPr txBox="1"/>
          <p:nvPr/>
        </p:nvSpPr>
        <p:spPr>
          <a:xfrm>
            <a:off x="157882" y="624365"/>
            <a:ext cx="315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게임 플로우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433ac48a28_0_35"/>
          <p:cNvSpPr txBox="1"/>
          <p:nvPr>
            <p:ph idx="12" type="sldNum"/>
          </p:nvPr>
        </p:nvSpPr>
        <p:spPr>
          <a:xfrm>
            <a:off x="9448800" y="3175"/>
            <a:ext cx="2743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g3433ac48a28_0_35"/>
          <p:cNvSpPr txBox="1"/>
          <p:nvPr>
            <p:ph idx="11" type="ftr"/>
          </p:nvPr>
        </p:nvSpPr>
        <p:spPr>
          <a:xfrm>
            <a:off x="86711" y="4762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PUZ_카드 맞추기 퍼즐 시스템 기획서</a:t>
            </a:r>
            <a:endParaRPr/>
          </a:p>
        </p:txBody>
      </p:sp>
      <p:pic>
        <p:nvPicPr>
          <p:cNvPr id="152" name="Google Shape;152;g3433ac48a28_0_35" title="플로우차트 수정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3911" y="348900"/>
            <a:ext cx="3222496" cy="612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387bb352b_0_1"/>
          <p:cNvSpPr/>
          <p:nvPr/>
        </p:nvSpPr>
        <p:spPr>
          <a:xfrm>
            <a:off x="0" y="6661463"/>
            <a:ext cx="12192000" cy="196500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g34387bb352b_0_1"/>
          <p:cNvSpPr/>
          <p:nvPr/>
        </p:nvSpPr>
        <p:spPr>
          <a:xfrm>
            <a:off x="0" y="0"/>
            <a:ext cx="12192000" cy="196500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g34387bb352b_0_1"/>
          <p:cNvSpPr txBox="1"/>
          <p:nvPr/>
        </p:nvSpPr>
        <p:spPr>
          <a:xfrm>
            <a:off x="5463375" y="6628926"/>
            <a:ext cx="126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</a:t>
            </a: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0" name="Google Shape;160;g34387bb352b_0_1"/>
          <p:cNvPicPr preferRelativeResize="0"/>
          <p:nvPr/>
        </p:nvPicPr>
        <p:blipFill rotWithShape="1">
          <a:blip r:embed="rId3">
            <a:alphaModFix/>
          </a:blip>
          <a:srcRect b="0" l="0" r="0" t="7978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4387bb352b_0_1"/>
          <p:cNvSpPr txBox="1"/>
          <p:nvPr/>
        </p:nvSpPr>
        <p:spPr>
          <a:xfrm>
            <a:off x="157882" y="624365"/>
            <a:ext cx="315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4387bb352b_0_1"/>
          <p:cNvSpPr txBox="1"/>
          <p:nvPr>
            <p:ph idx="12" type="sldNum"/>
          </p:nvPr>
        </p:nvSpPr>
        <p:spPr>
          <a:xfrm>
            <a:off x="9448800" y="3175"/>
            <a:ext cx="2743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g34387bb352b_0_1"/>
          <p:cNvSpPr txBox="1"/>
          <p:nvPr>
            <p:ph idx="11" type="ftr"/>
          </p:nvPr>
        </p:nvSpPr>
        <p:spPr>
          <a:xfrm>
            <a:off x="86711" y="4762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PUZ_카드 맞추기 퍼즐 시스템 기획서</a:t>
            </a:r>
            <a:endParaRPr/>
          </a:p>
        </p:txBody>
      </p:sp>
      <p:sp>
        <p:nvSpPr>
          <p:cNvPr id="164" name="Google Shape;164;g34387bb352b_0_1"/>
          <p:cNvSpPr txBox="1"/>
          <p:nvPr/>
        </p:nvSpPr>
        <p:spPr>
          <a:xfrm>
            <a:off x="369475" y="1108050"/>
            <a:ext cx="9376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g34387bb352b_0_1"/>
          <p:cNvSpPr/>
          <p:nvPr/>
        </p:nvSpPr>
        <p:spPr>
          <a:xfrm>
            <a:off x="157875" y="1431625"/>
            <a:ext cx="1118400" cy="1118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</a:t>
            </a: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ile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6" name="Google Shape;166;g34387bb352b_0_1"/>
          <p:cNvCxnSpPr>
            <a:stCxn id="165" idx="0"/>
            <a:endCxn id="165" idx="4"/>
          </p:cNvCxnSpPr>
          <p:nvPr/>
        </p:nvCxnSpPr>
        <p:spPr>
          <a:xfrm flipH="1" rot="-5400000">
            <a:off x="158175" y="1990525"/>
            <a:ext cx="1118400" cy="600"/>
          </a:xfrm>
          <a:prstGeom prst="bentConnector5">
            <a:avLst>
              <a:gd fmla="val -3637" name="adj1"/>
              <a:gd fmla="val 140295833" name="adj2"/>
              <a:gd fmla="val 104558" name="adj3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67" name="Google Shape;167;g34387bb352b_0_1"/>
          <p:cNvSpPr txBox="1"/>
          <p:nvPr/>
        </p:nvSpPr>
        <p:spPr>
          <a:xfrm flipH="1">
            <a:off x="1703500" y="1560900"/>
            <a:ext cx="37296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타일 사이즈는 6x6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타일 간의 간격 1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타일 배치는 난이도에 따라 다르게 배치됨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8" name="Google Shape;168;g34387bb352b_0_1"/>
          <p:cNvGrpSpPr/>
          <p:nvPr/>
        </p:nvGrpSpPr>
        <p:grpSpPr>
          <a:xfrm>
            <a:off x="975192" y="3347682"/>
            <a:ext cx="2337809" cy="2318013"/>
            <a:chOff x="4610400" y="3951450"/>
            <a:chExt cx="2651780" cy="2629325"/>
          </a:xfrm>
        </p:grpSpPr>
        <p:sp>
          <p:nvSpPr>
            <p:cNvPr id="169" name="Google Shape;169;g34387bb352b_0_1"/>
            <p:cNvSpPr/>
            <p:nvPr/>
          </p:nvSpPr>
          <p:spPr>
            <a:xfrm>
              <a:off x="4610400" y="395145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0" name="Google Shape;170;g34387bb352b_0_1"/>
            <p:cNvSpPr/>
            <p:nvPr/>
          </p:nvSpPr>
          <p:spPr>
            <a:xfrm>
              <a:off x="5167520" y="395145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1" name="Google Shape;171;g34387bb352b_0_1"/>
            <p:cNvSpPr/>
            <p:nvPr/>
          </p:nvSpPr>
          <p:spPr>
            <a:xfrm>
              <a:off x="5724640" y="395145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2" name="Google Shape;172;g34387bb352b_0_1"/>
            <p:cNvSpPr/>
            <p:nvPr/>
          </p:nvSpPr>
          <p:spPr>
            <a:xfrm>
              <a:off x="6281760" y="395145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3" name="Google Shape;173;g34387bb352b_0_1"/>
            <p:cNvSpPr/>
            <p:nvPr/>
          </p:nvSpPr>
          <p:spPr>
            <a:xfrm>
              <a:off x="6838880" y="395145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4" name="Google Shape;174;g34387bb352b_0_1"/>
            <p:cNvSpPr/>
            <p:nvPr/>
          </p:nvSpPr>
          <p:spPr>
            <a:xfrm>
              <a:off x="4610400" y="44800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5" name="Google Shape;175;g34387bb352b_0_1"/>
            <p:cNvSpPr/>
            <p:nvPr/>
          </p:nvSpPr>
          <p:spPr>
            <a:xfrm>
              <a:off x="5167520" y="44800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6" name="Google Shape;176;g34387bb352b_0_1"/>
            <p:cNvSpPr/>
            <p:nvPr/>
          </p:nvSpPr>
          <p:spPr>
            <a:xfrm>
              <a:off x="5724640" y="44800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7" name="Google Shape;177;g34387bb352b_0_1"/>
            <p:cNvSpPr/>
            <p:nvPr/>
          </p:nvSpPr>
          <p:spPr>
            <a:xfrm>
              <a:off x="6281760" y="44800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8" name="Google Shape;178;g34387bb352b_0_1"/>
            <p:cNvSpPr/>
            <p:nvPr/>
          </p:nvSpPr>
          <p:spPr>
            <a:xfrm>
              <a:off x="6838880" y="44800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9" name="Google Shape;179;g34387bb352b_0_1"/>
            <p:cNvSpPr/>
            <p:nvPr/>
          </p:nvSpPr>
          <p:spPr>
            <a:xfrm>
              <a:off x="4610400" y="500870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0" name="Google Shape;180;g34387bb352b_0_1"/>
            <p:cNvSpPr/>
            <p:nvPr/>
          </p:nvSpPr>
          <p:spPr>
            <a:xfrm>
              <a:off x="5167520" y="500870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1" name="Google Shape;181;g34387bb352b_0_1"/>
            <p:cNvSpPr/>
            <p:nvPr/>
          </p:nvSpPr>
          <p:spPr>
            <a:xfrm>
              <a:off x="5724640" y="500870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2" name="Google Shape;182;g34387bb352b_0_1"/>
            <p:cNvSpPr/>
            <p:nvPr/>
          </p:nvSpPr>
          <p:spPr>
            <a:xfrm>
              <a:off x="6281760" y="500870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3" name="Google Shape;183;g34387bb352b_0_1"/>
            <p:cNvSpPr/>
            <p:nvPr/>
          </p:nvSpPr>
          <p:spPr>
            <a:xfrm>
              <a:off x="6838880" y="500870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4" name="Google Shape;184;g34387bb352b_0_1"/>
            <p:cNvSpPr/>
            <p:nvPr/>
          </p:nvSpPr>
          <p:spPr>
            <a:xfrm>
              <a:off x="4610400" y="553732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5" name="Google Shape;185;g34387bb352b_0_1"/>
            <p:cNvSpPr/>
            <p:nvPr/>
          </p:nvSpPr>
          <p:spPr>
            <a:xfrm>
              <a:off x="5167520" y="553732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6" name="Google Shape;186;g34387bb352b_0_1"/>
            <p:cNvSpPr/>
            <p:nvPr/>
          </p:nvSpPr>
          <p:spPr>
            <a:xfrm>
              <a:off x="5724640" y="553732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7" name="Google Shape;187;g34387bb352b_0_1"/>
            <p:cNvSpPr/>
            <p:nvPr/>
          </p:nvSpPr>
          <p:spPr>
            <a:xfrm>
              <a:off x="6281760" y="553732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8" name="Google Shape;188;g34387bb352b_0_1"/>
            <p:cNvSpPr/>
            <p:nvPr/>
          </p:nvSpPr>
          <p:spPr>
            <a:xfrm>
              <a:off x="6838880" y="553732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9" name="Google Shape;189;g34387bb352b_0_1"/>
            <p:cNvSpPr/>
            <p:nvPr/>
          </p:nvSpPr>
          <p:spPr>
            <a:xfrm>
              <a:off x="4610400" y="61574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0" name="Google Shape;190;g34387bb352b_0_1"/>
            <p:cNvSpPr/>
            <p:nvPr/>
          </p:nvSpPr>
          <p:spPr>
            <a:xfrm>
              <a:off x="5167520" y="61574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1" name="Google Shape;191;g34387bb352b_0_1"/>
            <p:cNvSpPr/>
            <p:nvPr/>
          </p:nvSpPr>
          <p:spPr>
            <a:xfrm>
              <a:off x="5724640" y="61574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2" name="Google Shape;192;g34387bb352b_0_1"/>
            <p:cNvSpPr/>
            <p:nvPr/>
          </p:nvSpPr>
          <p:spPr>
            <a:xfrm>
              <a:off x="6281760" y="61574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3" name="Google Shape;193;g34387bb352b_0_1"/>
            <p:cNvSpPr/>
            <p:nvPr/>
          </p:nvSpPr>
          <p:spPr>
            <a:xfrm>
              <a:off x="6838880" y="61574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94" name="Google Shape;194;g34387bb352b_0_1"/>
          <p:cNvSpPr txBox="1"/>
          <p:nvPr/>
        </p:nvSpPr>
        <p:spPr>
          <a:xfrm flipH="1">
            <a:off x="729600" y="5895750"/>
            <a:ext cx="2829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4~5 난이도 타일 배치 (25) 예시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g34387bb352b_0_1"/>
          <p:cNvSpPr txBox="1"/>
          <p:nvPr/>
        </p:nvSpPr>
        <p:spPr>
          <a:xfrm flipH="1">
            <a:off x="4680375" y="5895750"/>
            <a:ext cx="2829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2~3 난이도 타일 배치 (15) 예시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96" name="Google Shape;196;g34387bb352b_0_1"/>
          <p:cNvGrpSpPr/>
          <p:nvPr/>
        </p:nvGrpSpPr>
        <p:grpSpPr>
          <a:xfrm>
            <a:off x="5417124" y="3347682"/>
            <a:ext cx="1355495" cy="2318013"/>
            <a:chOff x="5167520" y="3951450"/>
            <a:chExt cx="1537540" cy="2629325"/>
          </a:xfrm>
        </p:grpSpPr>
        <p:sp>
          <p:nvSpPr>
            <p:cNvPr id="197" name="Google Shape;197;g34387bb352b_0_1"/>
            <p:cNvSpPr/>
            <p:nvPr/>
          </p:nvSpPr>
          <p:spPr>
            <a:xfrm>
              <a:off x="5167520" y="395145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8" name="Google Shape;198;g34387bb352b_0_1"/>
            <p:cNvSpPr/>
            <p:nvPr/>
          </p:nvSpPr>
          <p:spPr>
            <a:xfrm>
              <a:off x="5724640" y="395145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9" name="Google Shape;199;g34387bb352b_0_1"/>
            <p:cNvSpPr/>
            <p:nvPr/>
          </p:nvSpPr>
          <p:spPr>
            <a:xfrm>
              <a:off x="6281760" y="395145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0" name="Google Shape;200;g34387bb352b_0_1"/>
            <p:cNvSpPr/>
            <p:nvPr/>
          </p:nvSpPr>
          <p:spPr>
            <a:xfrm>
              <a:off x="5167520" y="44800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1" name="Google Shape;201;g34387bb352b_0_1"/>
            <p:cNvSpPr/>
            <p:nvPr/>
          </p:nvSpPr>
          <p:spPr>
            <a:xfrm>
              <a:off x="5724640" y="44800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2" name="Google Shape;202;g34387bb352b_0_1"/>
            <p:cNvSpPr/>
            <p:nvPr/>
          </p:nvSpPr>
          <p:spPr>
            <a:xfrm>
              <a:off x="6281760" y="44800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3" name="Google Shape;203;g34387bb352b_0_1"/>
            <p:cNvSpPr/>
            <p:nvPr/>
          </p:nvSpPr>
          <p:spPr>
            <a:xfrm>
              <a:off x="5167520" y="500870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4" name="Google Shape;204;g34387bb352b_0_1"/>
            <p:cNvSpPr/>
            <p:nvPr/>
          </p:nvSpPr>
          <p:spPr>
            <a:xfrm>
              <a:off x="5724640" y="500870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5" name="Google Shape;205;g34387bb352b_0_1"/>
            <p:cNvSpPr/>
            <p:nvPr/>
          </p:nvSpPr>
          <p:spPr>
            <a:xfrm>
              <a:off x="6281760" y="500870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6" name="Google Shape;206;g34387bb352b_0_1"/>
            <p:cNvSpPr/>
            <p:nvPr/>
          </p:nvSpPr>
          <p:spPr>
            <a:xfrm>
              <a:off x="5167520" y="553732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7" name="Google Shape;207;g34387bb352b_0_1"/>
            <p:cNvSpPr/>
            <p:nvPr/>
          </p:nvSpPr>
          <p:spPr>
            <a:xfrm>
              <a:off x="5724640" y="553732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8" name="Google Shape;208;g34387bb352b_0_1"/>
            <p:cNvSpPr/>
            <p:nvPr/>
          </p:nvSpPr>
          <p:spPr>
            <a:xfrm>
              <a:off x="6281760" y="553732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9" name="Google Shape;209;g34387bb352b_0_1"/>
            <p:cNvSpPr/>
            <p:nvPr/>
          </p:nvSpPr>
          <p:spPr>
            <a:xfrm>
              <a:off x="5167520" y="61574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0" name="Google Shape;210;g34387bb352b_0_1"/>
            <p:cNvSpPr/>
            <p:nvPr/>
          </p:nvSpPr>
          <p:spPr>
            <a:xfrm>
              <a:off x="5724640" y="61574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1" name="Google Shape;211;g34387bb352b_0_1"/>
            <p:cNvSpPr/>
            <p:nvPr/>
          </p:nvSpPr>
          <p:spPr>
            <a:xfrm>
              <a:off x="6281760" y="61574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12" name="Google Shape;212;g34387bb352b_0_1"/>
          <p:cNvSpPr txBox="1"/>
          <p:nvPr/>
        </p:nvSpPr>
        <p:spPr>
          <a:xfrm flipH="1">
            <a:off x="8574775" y="5895750"/>
            <a:ext cx="2829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 난이도 기본 </a:t>
            </a: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타일 배치 (9) 예시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3" name="Google Shape;213;g34387bb352b_0_1"/>
          <p:cNvGrpSpPr/>
          <p:nvPr/>
        </p:nvGrpSpPr>
        <p:grpSpPr>
          <a:xfrm>
            <a:off x="9311524" y="3813718"/>
            <a:ext cx="1355495" cy="1305253"/>
            <a:chOff x="5167520" y="4480075"/>
            <a:chExt cx="1537540" cy="1480550"/>
          </a:xfrm>
        </p:grpSpPr>
        <p:sp>
          <p:nvSpPr>
            <p:cNvPr id="214" name="Google Shape;214;g34387bb352b_0_1"/>
            <p:cNvSpPr/>
            <p:nvPr/>
          </p:nvSpPr>
          <p:spPr>
            <a:xfrm>
              <a:off x="5167520" y="44800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5" name="Google Shape;215;g34387bb352b_0_1"/>
            <p:cNvSpPr/>
            <p:nvPr/>
          </p:nvSpPr>
          <p:spPr>
            <a:xfrm>
              <a:off x="5724640" y="44800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6" name="Google Shape;216;g34387bb352b_0_1"/>
            <p:cNvSpPr/>
            <p:nvPr/>
          </p:nvSpPr>
          <p:spPr>
            <a:xfrm>
              <a:off x="6281760" y="44800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7" name="Google Shape;217;g34387bb352b_0_1"/>
            <p:cNvSpPr/>
            <p:nvPr/>
          </p:nvSpPr>
          <p:spPr>
            <a:xfrm>
              <a:off x="5167520" y="500870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8" name="Google Shape;218;g34387bb352b_0_1"/>
            <p:cNvSpPr/>
            <p:nvPr/>
          </p:nvSpPr>
          <p:spPr>
            <a:xfrm>
              <a:off x="5724640" y="500870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9" name="Google Shape;219;g34387bb352b_0_1"/>
            <p:cNvSpPr/>
            <p:nvPr/>
          </p:nvSpPr>
          <p:spPr>
            <a:xfrm>
              <a:off x="6281760" y="500870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0" name="Google Shape;220;g34387bb352b_0_1"/>
            <p:cNvSpPr/>
            <p:nvPr/>
          </p:nvSpPr>
          <p:spPr>
            <a:xfrm>
              <a:off x="5167520" y="553732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1" name="Google Shape;221;g34387bb352b_0_1"/>
            <p:cNvSpPr/>
            <p:nvPr/>
          </p:nvSpPr>
          <p:spPr>
            <a:xfrm>
              <a:off x="5724640" y="553732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2" name="Google Shape;222;g34387bb352b_0_1"/>
            <p:cNvSpPr/>
            <p:nvPr/>
          </p:nvSpPr>
          <p:spPr>
            <a:xfrm>
              <a:off x="6281760" y="553732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23" name="Google Shape;223;g34387bb352b_0_1"/>
          <p:cNvSpPr/>
          <p:nvPr/>
        </p:nvSpPr>
        <p:spPr>
          <a:xfrm>
            <a:off x="9542438" y="1354350"/>
            <a:ext cx="1118400" cy="1118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algun Gothic"/>
                <a:ea typeface="Malgun Gothic"/>
                <a:cs typeface="Malgun Gothic"/>
                <a:sym typeface="Malgun Gothic"/>
              </a:rPr>
              <a:t>폭탄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algun Gothic"/>
                <a:ea typeface="Malgun Gothic"/>
                <a:cs typeface="Malgun Gothic"/>
                <a:sym typeface="Malgun Gothic"/>
              </a:rPr>
              <a:t>선택 시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4" name="Google Shape;224;g34387bb352b_0_1"/>
          <p:cNvSpPr/>
          <p:nvPr/>
        </p:nvSpPr>
        <p:spPr>
          <a:xfrm>
            <a:off x="10783500" y="1354350"/>
            <a:ext cx="1118400" cy="11184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algun Gothic"/>
                <a:ea typeface="Malgun Gothic"/>
                <a:cs typeface="Malgun Gothic"/>
                <a:sym typeface="Malgun Gothic"/>
              </a:rPr>
              <a:t>오브젝트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Malgun Gothic"/>
                <a:ea typeface="Malgun Gothic"/>
                <a:cs typeface="Malgun Gothic"/>
                <a:sym typeface="Malgun Gothic"/>
              </a:rPr>
              <a:t>선택 시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5" name="Google Shape;225;g34387bb352b_0_1"/>
          <p:cNvSpPr/>
          <p:nvPr/>
        </p:nvSpPr>
        <p:spPr>
          <a:xfrm>
            <a:off x="7060313" y="1354350"/>
            <a:ext cx="1118400" cy="11184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완료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6" name="Google Shape;226;g34387bb352b_0_1"/>
          <p:cNvSpPr txBox="1"/>
          <p:nvPr/>
        </p:nvSpPr>
        <p:spPr>
          <a:xfrm flipH="1">
            <a:off x="6995775" y="2550025"/>
            <a:ext cx="37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상태에 따른 색상 변화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7" name="Google Shape;227;g34387bb352b_0_1"/>
          <p:cNvSpPr/>
          <p:nvPr/>
        </p:nvSpPr>
        <p:spPr>
          <a:xfrm>
            <a:off x="8301375" y="1354338"/>
            <a:ext cx="1118400" cy="11184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호버 시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8" name="Google Shape;228;g34387bb352b_0_1"/>
          <p:cNvSpPr/>
          <p:nvPr/>
        </p:nvSpPr>
        <p:spPr>
          <a:xfrm>
            <a:off x="5819250" y="1354350"/>
            <a:ext cx="1118400" cy="1118400"/>
          </a:xfrm>
          <a:prstGeom prst="ellipse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387bb352b_0_92"/>
          <p:cNvSpPr/>
          <p:nvPr/>
        </p:nvSpPr>
        <p:spPr>
          <a:xfrm>
            <a:off x="0" y="6661463"/>
            <a:ext cx="12192000" cy="196500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" name="Google Shape;234;g34387bb352b_0_92"/>
          <p:cNvSpPr/>
          <p:nvPr/>
        </p:nvSpPr>
        <p:spPr>
          <a:xfrm>
            <a:off x="0" y="0"/>
            <a:ext cx="12192000" cy="196500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5" name="Google Shape;235;g34387bb352b_0_92"/>
          <p:cNvSpPr txBox="1"/>
          <p:nvPr/>
        </p:nvSpPr>
        <p:spPr>
          <a:xfrm>
            <a:off x="5463375" y="6628926"/>
            <a:ext cx="126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</a:t>
            </a: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36" name="Google Shape;236;g34387bb352b_0_92"/>
          <p:cNvPicPr preferRelativeResize="0"/>
          <p:nvPr/>
        </p:nvPicPr>
        <p:blipFill rotWithShape="1">
          <a:blip r:embed="rId3">
            <a:alphaModFix/>
          </a:blip>
          <a:srcRect b="0" l="0" r="0" t="7978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4387bb352b_0_92"/>
          <p:cNvSpPr txBox="1"/>
          <p:nvPr/>
        </p:nvSpPr>
        <p:spPr>
          <a:xfrm>
            <a:off x="157882" y="624365"/>
            <a:ext cx="315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오브젝트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4387bb352b_0_92"/>
          <p:cNvSpPr txBox="1"/>
          <p:nvPr>
            <p:ph idx="12" type="sldNum"/>
          </p:nvPr>
        </p:nvSpPr>
        <p:spPr>
          <a:xfrm>
            <a:off x="9448800" y="3175"/>
            <a:ext cx="2743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g34387bb352b_0_92"/>
          <p:cNvSpPr txBox="1"/>
          <p:nvPr>
            <p:ph idx="11" type="ftr"/>
          </p:nvPr>
        </p:nvSpPr>
        <p:spPr>
          <a:xfrm>
            <a:off x="86711" y="4762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PUZ_카드 맞추기 퍼즐 시스템 기획서</a:t>
            </a:r>
            <a:endParaRPr/>
          </a:p>
        </p:txBody>
      </p:sp>
      <p:sp>
        <p:nvSpPr>
          <p:cNvPr id="240" name="Google Shape;240;g34387bb352b_0_92"/>
          <p:cNvSpPr txBox="1"/>
          <p:nvPr/>
        </p:nvSpPr>
        <p:spPr>
          <a:xfrm flipH="1">
            <a:off x="2183475" y="1390950"/>
            <a:ext cx="37296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타일과 오브젝트는 피봇이 같다.(0.0.0)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1" name="Google Shape;241;g34387bb352b_0_92"/>
          <p:cNvSpPr/>
          <p:nvPr/>
        </p:nvSpPr>
        <p:spPr>
          <a:xfrm>
            <a:off x="1799700" y="3666600"/>
            <a:ext cx="1352400" cy="772800"/>
          </a:xfrm>
          <a:prstGeom prst="ca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g34387bb352b_0_92"/>
          <p:cNvSpPr/>
          <p:nvPr/>
        </p:nvSpPr>
        <p:spPr>
          <a:xfrm>
            <a:off x="1799700" y="3666600"/>
            <a:ext cx="1352400" cy="3651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3" name="Google Shape;243;g34387bb352b_0_92"/>
          <p:cNvSpPr/>
          <p:nvPr/>
        </p:nvSpPr>
        <p:spPr>
          <a:xfrm>
            <a:off x="3589225" y="3666600"/>
            <a:ext cx="1352400" cy="772800"/>
          </a:xfrm>
          <a:prstGeom prst="ca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4" name="Google Shape;244;g34387bb352b_0_92"/>
          <p:cNvSpPr/>
          <p:nvPr/>
        </p:nvSpPr>
        <p:spPr>
          <a:xfrm>
            <a:off x="3589225" y="3666600"/>
            <a:ext cx="1352400" cy="3651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45" name="Google Shape;245;g34387bb352b_0_92" title="free-icon-cute-skull-122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9497" y="2893025"/>
            <a:ext cx="772800" cy="77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4387bb352b_0_92" title="free-icon-fan-302244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5668" y="2898750"/>
            <a:ext cx="859500" cy="8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4387bb352b_0_92"/>
          <p:cNvSpPr txBox="1"/>
          <p:nvPr/>
        </p:nvSpPr>
        <p:spPr>
          <a:xfrm flipH="1">
            <a:off x="902650" y="4558925"/>
            <a:ext cx="5056200" cy="1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오브젝트</a:t>
            </a: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오브젝트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번의 상호작용에 하나의 타일만 활성화 가능 (최대 2개의 타일만 활성화 된다.)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-1) 동일한 오브젝트일 경우 오브젝트 제거 &amp; 타일 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색상변경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(녹색)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-2) 상이한 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오브젝트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 경우 오브젝트 제거 &amp; 타일 색상변경 (검정색)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1), 2)의 과정에서 새로운 오브젝트를 활성화하는 것도 가능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8" name="Google Shape;248;g34387bb352b_0_92"/>
          <p:cNvSpPr/>
          <p:nvPr/>
        </p:nvSpPr>
        <p:spPr>
          <a:xfrm>
            <a:off x="8174025" y="3758250"/>
            <a:ext cx="1352400" cy="772800"/>
          </a:xfrm>
          <a:prstGeom prst="ca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9" name="Google Shape;249;g34387bb352b_0_92"/>
          <p:cNvSpPr/>
          <p:nvPr/>
        </p:nvSpPr>
        <p:spPr>
          <a:xfrm>
            <a:off x="8174025" y="3758250"/>
            <a:ext cx="1352400" cy="3651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0" name="Google Shape;250;g34387bb352b_0_92"/>
          <p:cNvSpPr txBox="1"/>
          <p:nvPr/>
        </p:nvSpPr>
        <p:spPr>
          <a:xfrm flipH="1">
            <a:off x="6667875" y="4660475"/>
            <a:ext cx="4531800" cy="14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폭탄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활성화될 시 레벨에 제거되지 않은 오브젝트의 위치가 변경된다.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폭탄이 활성화되면 랜덤 배치가 끝날 때까지 제한 시간은 일시 정지되며, 유저는 상호작용을 할 수 없음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51" name="Google Shape;251;g34387bb352b_0_92" title="free-icon-bomb-11268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2700004">
            <a:off x="8463825" y="3036275"/>
            <a:ext cx="772800" cy="77283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4387bb352b_0_92"/>
          <p:cNvSpPr/>
          <p:nvPr/>
        </p:nvSpPr>
        <p:spPr>
          <a:xfrm>
            <a:off x="2580775" y="1955825"/>
            <a:ext cx="147600" cy="147600"/>
          </a:xfrm>
          <a:prstGeom prst="ellipse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3" name="Google Shape;253;g34387bb352b_0_92"/>
          <p:cNvSpPr/>
          <p:nvPr/>
        </p:nvSpPr>
        <p:spPr>
          <a:xfrm>
            <a:off x="2595625" y="2318763"/>
            <a:ext cx="117900" cy="117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4" name="Google Shape;254;g34387bb352b_0_92"/>
          <p:cNvSpPr txBox="1"/>
          <p:nvPr/>
        </p:nvSpPr>
        <p:spPr>
          <a:xfrm flipH="1">
            <a:off x="2843450" y="1882175"/>
            <a:ext cx="935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타일 피봇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5" name="Google Shape;255;g34387bb352b_0_92"/>
          <p:cNvSpPr txBox="1"/>
          <p:nvPr/>
        </p:nvSpPr>
        <p:spPr>
          <a:xfrm flipH="1">
            <a:off x="2843450" y="2230275"/>
            <a:ext cx="1352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오브젝트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피봇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6" name="Google Shape;256;g34387bb352b_0_92"/>
          <p:cNvSpPr/>
          <p:nvPr/>
        </p:nvSpPr>
        <p:spPr>
          <a:xfrm>
            <a:off x="265613" y="2259138"/>
            <a:ext cx="1689600" cy="338700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57" name="Google Shape;257;g34387bb352b_0_92" title="free-icon-photo-camera-interface-symbol-for-button-4501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1413" y="1174725"/>
            <a:ext cx="1037975" cy="1037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4387bb352b_0_92"/>
          <p:cNvSpPr/>
          <p:nvPr/>
        </p:nvSpPr>
        <p:spPr>
          <a:xfrm>
            <a:off x="1051450" y="2535300"/>
            <a:ext cx="117900" cy="117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g34387bb352b_0_92"/>
          <p:cNvSpPr/>
          <p:nvPr/>
        </p:nvSpPr>
        <p:spPr>
          <a:xfrm>
            <a:off x="1036625" y="2520525"/>
            <a:ext cx="147600" cy="1476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4387bb352b_0_230"/>
          <p:cNvSpPr/>
          <p:nvPr/>
        </p:nvSpPr>
        <p:spPr>
          <a:xfrm>
            <a:off x="0" y="6661463"/>
            <a:ext cx="12192000" cy="196500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g34387bb352b_0_230"/>
          <p:cNvSpPr/>
          <p:nvPr/>
        </p:nvSpPr>
        <p:spPr>
          <a:xfrm>
            <a:off x="0" y="0"/>
            <a:ext cx="12192000" cy="196500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g34387bb352b_0_230"/>
          <p:cNvSpPr txBox="1"/>
          <p:nvPr/>
        </p:nvSpPr>
        <p:spPr>
          <a:xfrm>
            <a:off x="5463375" y="6628926"/>
            <a:ext cx="126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67" name="Google Shape;267;g34387bb352b_0_230"/>
          <p:cNvPicPr preferRelativeResize="0"/>
          <p:nvPr/>
        </p:nvPicPr>
        <p:blipFill rotWithShape="1">
          <a:blip r:embed="rId3">
            <a:alphaModFix/>
          </a:blip>
          <a:srcRect b="0" l="0" r="0" t="7978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4387bb352b_0_230"/>
          <p:cNvSpPr txBox="1"/>
          <p:nvPr/>
        </p:nvSpPr>
        <p:spPr>
          <a:xfrm>
            <a:off x="157882" y="624365"/>
            <a:ext cx="315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게임 플레이- </a:t>
            </a: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4387bb352b_0_230"/>
          <p:cNvSpPr txBox="1"/>
          <p:nvPr>
            <p:ph idx="12" type="sldNum"/>
          </p:nvPr>
        </p:nvSpPr>
        <p:spPr>
          <a:xfrm>
            <a:off x="9448800" y="3175"/>
            <a:ext cx="2743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g34387bb352b_0_230"/>
          <p:cNvSpPr txBox="1"/>
          <p:nvPr>
            <p:ph idx="11" type="ftr"/>
          </p:nvPr>
        </p:nvSpPr>
        <p:spPr>
          <a:xfrm>
            <a:off x="86711" y="4762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PUZ_카드 맞추기 퍼즐 시스템 기획서</a:t>
            </a:r>
            <a:endParaRPr/>
          </a:p>
        </p:txBody>
      </p:sp>
      <p:pic>
        <p:nvPicPr>
          <p:cNvPr id="271" name="Google Shape;271;g34387bb352b_0_2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876" y="1272575"/>
            <a:ext cx="4043625" cy="259811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4387bb352b_0_230"/>
          <p:cNvSpPr txBox="1"/>
          <p:nvPr/>
        </p:nvSpPr>
        <p:spPr>
          <a:xfrm flipH="1">
            <a:off x="279300" y="3989470"/>
            <a:ext cx="37296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시작 시 필드 생성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생성 연출 방법은 컨셉 기획서 참고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73" name="Google Shape;273;g34387bb352b_0_230"/>
          <p:cNvGrpSpPr/>
          <p:nvPr/>
        </p:nvGrpSpPr>
        <p:grpSpPr>
          <a:xfrm>
            <a:off x="1567744" y="2065574"/>
            <a:ext cx="1051062" cy="1012104"/>
            <a:chOff x="5167520" y="4480075"/>
            <a:chExt cx="1537540" cy="1480550"/>
          </a:xfrm>
        </p:grpSpPr>
        <p:sp>
          <p:nvSpPr>
            <p:cNvPr id="274" name="Google Shape;274;g34387bb352b_0_230"/>
            <p:cNvSpPr/>
            <p:nvPr/>
          </p:nvSpPr>
          <p:spPr>
            <a:xfrm>
              <a:off x="5167520" y="44800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5" name="Google Shape;275;g34387bb352b_0_230"/>
            <p:cNvSpPr/>
            <p:nvPr/>
          </p:nvSpPr>
          <p:spPr>
            <a:xfrm>
              <a:off x="5724640" y="44800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6" name="Google Shape;276;g34387bb352b_0_230"/>
            <p:cNvSpPr/>
            <p:nvPr/>
          </p:nvSpPr>
          <p:spPr>
            <a:xfrm>
              <a:off x="6281760" y="44800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7" name="Google Shape;277;g34387bb352b_0_230"/>
            <p:cNvSpPr/>
            <p:nvPr/>
          </p:nvSpPr>
          <p:spPr>
            <a:xfrm>
              <a:off x="5167520" y="500870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8" name="Google Shape;278;g34387bb352b_0_230"/>
            <p:cNvSpPr/>
            <p:nvPr/>
          </p:nvSpPr>
          <p:spPr>
            <a:xfrm>
              <a:off x="5724640" y="500870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79" name="Google Shape;279;g34387bb352b_0_230"/>
            <p:cNvSpPr/>
            <p:nvPr/>
          </p:nvSpPr>
          <p:spPr>
            <a:xfrm>
              <a:off x="6281760" y="500870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0" name="Google Shape;280;g34387bb352b_0_230"/>
            <p:cNvSpPr/>
            <p:nvPr/>
          </p:nvSpPr>
          <p:spPr>
            <a:xfrm>
              <a:off x="5167520" y="553732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1" name="Google Shape;281;g34387bb352b_0_230"/>
            <p:cNvSpPr/>
            <p:nvPr/>
          </p:nvSpPr>
          <p:spPr>
            <a:xfrm>
              <a:off x="5724640" y="553732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2" name="Google Shape;282;g34387bb352b_0_230"/>
            <p:cNvSpPr/>
            <p:nvPr/>
          </p:nvSpPr>
          <p:spPr>
            <a:xfrm>
              <a:off x="6281760" y="553732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83" name="Google Shape;283;g34387bb352b_0_230"/>
          <p:cNvSpPr txBox="1"/>
          <p:nvPr/>
        </p:nvSpPr>
        <p:spPr>
          <a:xfrm flipH="1">
            <a:off x="4318225" y="2156420"/>
            <a:ext cx="37296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NPUZ_06_FieldData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84" name="Google Shape;284;g34387bb352b_0_230"/>
          <p:cNvGraphicFramePr/>
          <p:nvPr/>
        </p:nvGraphicFramePr>
        <p:xfrm>
          <a:off x="4318225" y="1272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{A40DA80B-8825-4231-A2D5-F9500E8428DA}</a:tableStyleId>
              </a:tblPr>
              <a:tblGrid>
                <a:gridCol w="955250"/>
                <a:gridCol w="1646700"/>
                <a:gridCol w="1300975"/>
                <a:gridCol w="1300975"/>
                <a:gridCol w="1300975"/>
                <a:gridCol w="1300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Index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iObjectGroupID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sTileArrayX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sTileArrayY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iBombTile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iObjectTile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-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오브젝트 데이터의 동일한 그룹 불러옴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5" name="Google Shape;285;g34387bb352b_0_230"/>
          <p:cNvSpPr txBox="1"/>
          <p:nvPr/>
        </p:nvSpPr>
        <p:spPr>
          <a:xfrm>
            <a:off x="4318225" y="2737600"/>
            <a:ext cx="6504900" cy="3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Malgun Gothic"/>
                <a:ea typeface="Malgun Gothic"/>
                <a:cs typeface="Malgun Gothic"/>
                <a:sym typeface="Malgun Gothic"/>
              </a:rPr>
              <a:t>iObjectGroupID</a:t>
            </a:r>
            <a:endParaRPr b="1"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</a:rPr>
              <a:t>NPUZ_06_ObjectData의 iObjectGroupID를 참조. 동일한 GroupID를 공유하는 오브젝트를 불러옴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sTileArrayX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-US" sz="1200">
                <a:solidFill>
                  <a:schemeClr val="dk1"/>
                </a:solidFill>
              </a:rPr>
              <a:t>필드의 X열을 지정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sTileArrayY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-US" sz="1200">
                <a:solidFill>
                  <a:schemeClr val="dk1"/>
                </a:solidFill>
              </a:rPr>
              <a:t>필드의 Y열을 지정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iBombTile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-US" sz="1200">
                <a:solidFill>
                  <a:schemeClr val="dk1"/>
                </a:solidFill>
              </a:rPr>
              <a:t>각 라운드에 등장하는 폭탄의 수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iObjectTile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-US" sz="1200">
                <a:solidFill>
                  <a:schemeClr val="dk1"/>
                </a:solidFill>
              </a:rPr>
              <a:t>(sTileArrayX </a:t>
            </a:r>
            <a:r>
              <a:rPr lang="en-US" sz="1200">
                <a:solidFill>
                  <a:schemeClr val="dk1"/>
                </a:solidFill>
              </a:rPr>
              <a:t>x</a:t>
            </a:r>
            <a:r>
              <a:rPr lang="en-US" sz="1200">
                <a:solidFill>
                  <a:schemeClr val="dk1"/>
                </a:solidFill>
              </a:rPr>
              <a:t> sTileArrayY) - (iBombTile) 의 값. 반드시 짝수여야 함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배치되는 </a:t>
            </a:r>
            <a:r>
              <a:rPr b="1" lang="en-US" sz="1200">
                <a:solidFill>
                  <a:schemeClr val="dk1"/>
                </a:solidFill>
              </a:rPr>
              <a:t>Bomb</a:t>
            </a:r>
            <a:r>
              <a:rPr lang="en-US" sz="1200">
                <a:solidFill>
                  <a:schemeClr val="dk1"/>
                </a:solidFill>
              </a:rPr>
              <a:t>와 </a:t>
            </a:r>
            <a:r>
              <a:rPr b="1" lang="en-US" sz="1200">
                <a:solidFill>
                  <a:schemeClr val="dk1"/>
                </a:solidFill>
              </a:rPr>
              <a:t>Object</a:t>
            </a:r>
            <a:r>
              <a:rPr lang="en-US" sz="1200">
                <a:solidFill>
                  <a:schemeClr val="dk1"/>
                </a:solidFill>
              </a:rPr>
              <a:t>의 위치는 랜덤으로 변환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g34387bb352b_0_260"/>
          <p:cNvGrpSpPr/>
          <p:nvPr/>
        </p:nvGrpSpPr>
        <p:grpSpPr>
          <a:xfrm>
            <a:off x="4250300" y="963072"/>
            <a:ext cx="985500" cy="1126782"/>
            <a:chOff x="4280800" y="1148497"/>
            <a:chExt cx="985500" cy="1126782"/>
          </a:xfrm>
        </p:grpSpPr>
        <p:sp>
          <p:nvSpPr>
            <p:cNvPr id="291" name="Google Shape;291;g34387bb352b_0_260"/>
            <p:cNvSpPr/>
            <p:nvPr/>
          </p:nvSpPr>
          <p:spPr>
            <a:xfrm>
              <a:off x="4280800" y="1712179"/>
              <a:ext cx="985500" cy="563100"/>
            </a:xfrm>
            <a:prstGeom prst="can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292" name="Google Shape;292;g34387bb352b_0_260" title="free-icon-cute-skull-1221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491991" y="1148497"/>
              <a:ext cx="563118" cy="5631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" name="Google Shape;293;g34387bb352b_0_260"/>
          <p:cNvGrpSpPr/>
          <p:nvPr/>
        </p:nvGrpSpPr>
        <p:grpSpPr>
          <a:xfrm>
            <a:off x="6212700" y="963072"/>
            <a:ext cx="985500" cy="1126782"/>
            <a:chOff x="6243200" y="1148497"/>
            <a:chExt cx="985500" cy="1126782"/>
          </a:xfrm>
        </p:grpSpPr>
        <p:sp>
          <p:nvSpPr>
            <p:cNvPr id="294" name="Google Shape;294;g34387bb352b_0_260"/>
            <p:cNvSpPr/>
            <p:nvPr/>
          </p:nvSpPr>
          <p:spPr>
            <a:xfrm>
              <a:off x="6243200" y="1712179"/>
              <a:ext cx="985500" cy="563100"/>
            </a:xfrm>
            <a:prstGeom prst="can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295" name="Google Shape;295;g34387bb352b_0_260" title="free-icon-cute-skull-1221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54391" y="1148497"/>
              <a:ext cx="563118" cy="5631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6" name="Google Shape;296;g34387bb352b_0_260"/>
          <p:cNvSpPr/>
          <p:nvPr/>
        </p:nvSpPr>
        <p:spPr>
          <a:xfrm>
            <a:off x="5541700" y="1352250"/>
            <a:ext cx="365100" cy="365100"/>
          </a:xfrm>
          <a:prstGeom prst="mathMultiply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7" name="Google Shape;297;g34387bb352b_0_260"/>
          <p:cNvSpPr/>
          <p:nvPr/>
        </p:nvSpPr>
        <p:spPr>
          <a:xfrm>
            <a:off x="0" y="6661463"/>
            <a:ext cx="12192000" cy="196500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8" name="Google Shape;298;g34387bb352b_0_260"/>
          <p:cNvSpPr/>
          <p:nvPr/>
        </p:nvSpPr>
        <p:spPr>
          <a:xfrm>
            <a:off x="0" y="0"/>
            <a:ext cx="12192000" cy="196500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9" name="Google Shape;299;g34387bb352b_0_260"/>
          <p:cNvSpPr txBox="1"/>
          <p:nvPr/>
        </p:nvSpPr>
        <p:spPr>
          <a:xfrm>
            <a:off x="5463375" y="6628926"/>
            <a:ext cx="126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</a:t>
            </a: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00" name="Google Shape;300;g34387bb352b_0_260"/>
          <p:cNvPicPr preferRelativeResize="0"/>
          <p:nvPr/>
        </p:nvPicPr>
        <p:blipFill rotWithShape="1">
          <a:blip r:embed="rId4">
            <a:alphaModFix/>
          </a:blip>
          <a:srcRect b="0" l="0" r="0" t="7978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4387bb352b_0_260"/>
          <p:cNvSpPr txBox="1"/>
          <p:nvPr/>
        </p:nvSpPr>
        <p:spPr>
          <a:xfrm>
            <a:off x="157882" y="624365"/>
            <a:ext cx="315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게임 플레이- </a:t>
            </a: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4387bb352b_0_260"/>
          <p:cNvSpPr txBox="1"/>
          <p:nvPr>
            <p:ph idx="12" type="sldNum"/>
          </p:nvPr>
        </p:nvSpPr>
        <p:spPr>
          <a:xfrm>
            <a:off x="9448800" y="3175"/>
            <a:ext cx="2743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3" name="Google Shape;303;g34387bb352b_0_260"/>
          <p:cNvSpPr txBox="1"/>
          <p:nvPr>
            <p:ph idx="11" type="ftr"/>
          </p:nvPr>
        </p:nvSpPr>
        <p:spPr>
          <a:xfrm>
            <a:off x="86711" y="4762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PUZ_카드 맞추기 퍼즐 시스템 기획서</a:t>
            </a:r>
            <a:endParaRPr/>
          </a:p>
        </p:txBody>
      </p:sp>
      <p:sp>
        <p:nvSpPr>
          <p:cNvPr id="304" name="Google Shape;304;g34387bb352b_0_260"/>
          <p:cNvSpPr txBox="1"/>
          <p:nvPr/>
        </p:nvSpPr>
        <p:spPr>
          <a:xfrm flipH="1">
            <a:off x="279300" y="3826775"/>
            <a:ext cx="3157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타일을 상호작용 할 시 오브젝트 노출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5" name="Google Shape;305;g34387bb352b_0_260"/>
          <p:cNvSpPr txBox="1"/>
          <p:nvPr/>
        </p:nvSpPr>
        <p:spPr>
          <a:xfrm>
            <a:off x="4201500" y="5005175"/>
            <a:ext cx="764100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b="1" lang="en-US" sz="1200">
                <a:latin typeface="Malgun Gothic"/>
                <a:ea typeface="Malgun Gothic"/>
                <a:cs typeface="Malgun Gothic"/>
                <a:sym typeface="Malgun Gothic"/>
              </a:rPr>
              <a:t>오브젝트는 한 번에 2개까지 노출이 가능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첫 번재 오브젝트와 두 번째 오브젝트가 동일하면 오브젝트 제거 후 타일 색상 변경(파란색-&gt;녹색)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첫 번째 오브젝트와 두 번재 오브젝트가 상이하면 오브젝트 제거 후 타일 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색상 변경</a:t>
            </a: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(파란색-&gt;검정색)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오브젝트가 폭탄이면 레벨에 존재하는 모든 오브젝트의 순서를 랜덤으로 변경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오브젝트 연출은 </a:t>
            </a:r>
            <a:r>
              <a:rPr lang="en-US" sz="1200" u="sng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5"/>
              </a:rPr>
              <a:t>컨셉 기획서</a:t>
            </a: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를 참고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06" name="Google Shape;306;g34387bb352b_0_260"/>
          <p:cNvPicPr preferRelativeResize="0"/>
          <p:nvPr/>
        </p:nvPicPr>
        <p:blipFill rotWithShape="1">
          <a:blip r:embed="rId6">
            <a:alphaModFix/>
          </a:blip>
          <a:srcRect b="0" l="16702" r="18585" t="0"/>
          <a:stretch/>
        </p:blipFill>
        <p:spPr>
          <a:xfrm>
            <a:off x="279300" y="1120400"/>
            <a:ext cx="3214025" cy="259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g34387bb352b_0_260" title="free-icon-pointing-415169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245361">
            <a:off x="2181017" y="1312544"/>
            <a:ext cx="1218261" cy="12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4387bb352b_0_260"/>
          <p:cNvSpPr/>
          <p:nvPr/>
        </p:nvSpPr>
        <p:spPr>
          <a:xfrm>
            <a:off x="4250300" y="1526754"/>
            <a:ext cx="985500" cy="2661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9" name="Google Shape;309;g34387bb352b_0_260"/>
          <p:cNvSpPr/>
          <p:nvPr/>
        </p:nvSpPr>
        <p:spPr>
          <a:xfrm>
            <a:off x="6212700" y="1526754"/>
            <a:ext cx="985500" cy="2661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0" name="Google Shape;310;g34387bb352b_0_260"/>
          <p:cNvSpPr/>
          <p:nvPr/>
        </p:nvSpPr>
        <p:spPr>
          <a:xfrm>
            <a:off x="7504100" y="1240650"/>
            <a:ext cx="476700" cy="4767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1" name="Google Shape;311;g34387bb352b_0_260"/>
          <p:cNvSpPr/>
          <p:nvPr/>
        </p:nvSpPr>
        <p:spPr>
          <a:xfrm>
            <a:off x="8125288" y="1526754"/>
            <a:ext cx="985500" cy="563100"/>
          </a:xfrm>
          <a:prstGeom prst="can">
            <a:avLst>
              <a:gd fmla="val 50000" name="adj"/>
            </a:avLst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2" name="Google Shape;312;g34387bb352b_0_260"/>
          <p:cNvSpPr/>
          <p:nvPr/>
        </p:nvSpPr>
        <p:spPr>
          <a:xfrm>
            <a:off x="9418300" y="1526754"/>
            <a:ext cx="985500" cy="563100"/>
          </a:xfrm>
          <a:prstGeom prst="can">
            <a:avLst>
              <a:gd fmla="val 50000" name="adj"/>
            </a:avLst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13" name="Google Shape;313;g34387bb352b_0_260"/>
          <p:cNvGrpSpPr/>
          <p:nvPr/>
        </p:nvGrpSpPr>
        <p:grpSpPr>
          <a:xfrm>
            <a:off x="4250300" y="2356022"/>
            <a:ext cx="985500" cy="1126782"/>
            <a:chOff x="4280800" y="1148497"/>
            <a:chExt cx="985500" cy="1126782"/>
          </a:xfrm>
        </p:grpSpPr>
        <p:sp>
          <p:nvSpPr>
            <p:cNvPr id="314" name="Google Shape;314;g34387bb352b_0_260"/>
            <p:cNvSpPr/>
            <p:nvPr/>
          </p:nvSpPr>
          <p:spPr>
            <a:xfrm>
              <a:off x="4280800" y="1712179"/>
              <a:ext cx="985500" cy="563100"/>
            </a:xfrm>
            <a:prstGeom prst="can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15" name="Google Shape;315;g34387bb352b_0_260" title="free-icon-cute-skull-1221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491991" y="1148497"/>
              <a:ext cx="563118" cy="5631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6" name="Google Shape;316;g34387bb352b_0_260"/>
          <p:cNvSpPr/>
          <p:nvPr/>
        </p:nvSpPr>
        <p:spPr>
          <a:xfrm>
            <a:off x="6212700" y="2919704"/>
            <a:ext cx="985500" cy="563100"/>
          </a:xfrm>
          <a:prstGeom prst="ca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7" name="Google Shape;317;g34387bb352b_0_260"/>
          <p:cNvSpPr/>
          <p:nvPr/>
        </p:nvSpPr>
        <p:spPr>
          <a:xfrm>
            <a:off x="5541700" y="2745200"/>
            <a:ext cx="365100" cy="365100"/>
          </a:xfrm>
          <a:prstGeom prst="mathMultiply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g34387bb352b_0_260"/>
          <p:cNvSpPr/>
          <p:nvPr/>
        </p:nvSpPr>
        <p:spPr>
          <a:xfrm>
            <a:off x="4250300" y="2919704"/>
            <a:ext cx="985500" cy="2661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9" name="Google Shape;319;g34387bb352b_0_260"/>
          <p:cNvSpPr/>
          <p:nvPr/>
        </p:nvSpPr>
        <p:spPr>
          <a:xfrm>
            <a:off x="6212700" y="2919704"/>
            <a:ext cx="985500" cy="2661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0" name="Google Shape;320;g34387bb352b_0_260"/>
          <p:cNvSpPr/>
          <p:nvPr/>
        </p:nvSpPr>
        <p:spPr>
          <a:xfrm>
            <a:off x="7504100" y="2633600"/>
            <a:ext cx="476700" cy="4767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1" name="Google Shape;321;g34387bb352b_0_260"/>
          <p:cNvSpPr/>
          <p:nvPr/>
        </p:nvSpPr>
        <p:spPr>
          <a:xfrm>
            <a:off x="8125288" y="2919704"/>
            <a:ext cx="985500" cy="563100"/>
          </a:xfrm>
          <a:prstGeom prst="ca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2" name="Google Shape;322;g34387bb352b_0_260"/>
          <p:cNvSpPr/>
          <p:nvPr/>
        </p:nvSpPr>
        <p:spPr>
          <a:xfrm>
            <a:off x="9418300" y="2919704"/>
            <a:ext cx="985500" cy="563100"/>
          </a:xfrm>
          <a:prstGeom prst="ca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23" name="Google Shape;323;g34387bb352b_0_260" title="free-icon-fan-3022447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50386" y="2356025"/>
            <a:ext cx="660325" cy="660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4387bb352b_0_260"/>
          <p:cNvSpPr/>
          <p:nvPr/>
        </p:nvSpPr>
        <p:spPr>
          <a:xfrm>
            <a:off x="5666063" y="4152367"/>
            <a:ext cx="985500" cy="563100"/>
          </a:xfrm>
          <a:prstGeom prst="ca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5" name="Google Shape;325;g34387bb352b_0_260"/>
          <p:cNvSpPr/>
          <p:nvPr/>
        </p:nvSpPr>
        <p:spPr>
          <a:xfrm>
            <a:off x="5666075" y="4138154"/>
            <a:ext cx="985500" cy="2661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26" name="Google Shape;326;g34387bb352b_0_260" title="free-icon-bomb-112683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2700000">
            <a:off x="5880166" y="3745729"/>
            <a:ext cx="557295" cy="557318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g34387bb352b_0_260"/>
          <p:cNvSpPr/>
          <p:nvPr/>
        </p:nvSpPr>
        <p:spPr>
          <a:xfrm>
            <a:off x="6796038" y="4119225"/>
            <a:ext cx="1189800" cy="16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28" name="Google Shape;328;g34387bb352b_0_260"/>
          <p:cNvGrpSpPr/>
          <p:nvPr/>
        </p:nvGrpSpPr>
        <p:grpSpPr>
          <a:xfrm>
            <a:off x="8229006" y="3765149"/>
            <a:ext cx="1051062" cy="1012104"/>
            <a:chOff x="5167520" y="4480075"/>
            <a:chExt cx="1537540" cy="1480550"/>
          </a:xfrm>
        </p:grpSpPr>
        <p:sp>
          <p:nvSpPr>
            <p:cNvPr id="329" name="Google Shape;329;g34387bb352b_0_260"/>
            <p:cNvSpPr/>
            <p:nvPr/>
          </p:nvSpPr>
          <p:spPr>
            <a:xfrm>
              <a:off x="5167520" y="4480075"/>
              <a:ext cx="423300" cy="4233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0" name="Google Shape;330;g34387bb352b_0_260"/>
            <p:cNvSpPr/>
            <p:nvPr/>
          </p:nvSpPr>
          <p:spPr>
            <a:xfrm>
              <a:off x="5724640" y="4480075"/>
              <a:ext cx="423300" cy="4233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1" name="Google Shape;331;g34387bb352b_0_260"/>
            <p:cNvSpPr/>
            <p:nvPr/>
          </p:nvSpPr>
          <p:spPr>
            <a:xfrm>
              <a:off x="6281760" y="44800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Malgun Gothic"/>
                  <a:ea typeface="Malgun Gothic"/>
                  <a:cs typeface="Malgun Gothic"/>
                  <a:sym typeface="Malgun Gothic"/>
                </a:rPr>
                <a:t>x</a:t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2" name="Google Shape;332;g34387bb352b_0_260"/>
            <p:cNvSpPr/>
            <p:nvPr/>
          </p:nvSpPr>
          <p:spPr>
            <a:xfrm>
              <a:off x="5167520" y="5008700"/>
              <a:ext cx="423300" cy="4233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3" name="Google Shape;333;g34387bb352b_0_260"/>
            <p:cNvSpPr/>
            <p:nvPr/>
          </p:nvSpPr>
          <p:spPr>
            <a:xfrm>
              <a:off x="5724640" y="5008700"/>
              <a:ext cx="423300" cy="4233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4" name="Google Shape;334;g34387bb352b_0_260"/>
            <p:cNvSpPr/>
            <p:nvPr/>
          </p:nvSpPr>
          <p:spPr>
            <a:xfrm>
              <a:off x="6281760" y="500870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Malgun Gothic"/>
                  <a:ea typeface="Malgun Gothic"/>
                  <a:cs typeface="Malgun Gothic"/>
                  <a:sym typeface="Malgun Gothic"/>
                </a:rPr>
                <a:t>x</a:t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5" name="Google Shape;335;g34387bb352b_0_260"/>
            <p:cNvSpPr/>
            <p:nvPr/>
          </p:nvSpPr>
          <p:spPr>
            <a:xfrm>
              <a:off x="5167520" y="5537325"/>
              <a:ext cx="423300" cy="4233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6" name="Google Shape;336;g34387bb352b_0_260"/>
            <p:cNvSpPr/>
            <p:nvPr/>
          </p:nvSpPr>
          <p:spPr>
            <a:xfrm>
              <a:off x="5724640" y="5537325"/>
              <a:ext cx="423300" cy="4233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7" name="Google Shape;337;g34387bb352b_0_260"/>
            <p:cNvSpPr/>
            <p:nvPr/>
          </p:nvSpPr>
          <p:spPr>
            <a:xfrm>
              <a:off x="6281760" y="5537325"/>
              <a:ext cx="423300" cy="4233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38" name="Google Shape;338;g34387bb352b_0_260"/>
          <p:cNvGrpSpPr/>
          <p:nvPr/>
        </p:nvGrpSpPr>
        <p:grpSpPr>
          <a:xfrm>
            <a:off x="4358556" y="3931762"/>
            <a:ext cx="1051062" cy="1012104"/>
            <a:chOff x="5167520" y="4480075"/>
            <a:chExt cx="1537540" cy="1480550"/>
          </a:xfrm>
        </p:grpSpPr>
        <p:sp>
          <p:nvSpPr>
            <p:cNvPr id="339" name="Google Shape;339;g34387bb352b_0_260"/>
            <p:cNvSpPr/>
            <p:nvPr/>
          </p:nvSpPr>
          <p:spPr>
            <a:xfrm>
              <a:off x="5167520" y="4480075"/>
              <a:ext cx="423300" cy="4233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0" name="Google Shape;340;g34387bb352b_0_260"/>
            <p:cNvSpPr/>
            <p:nvPr/>
          </p:nvSpPr>
          <p:spPr>
            <a:xfrm>
              <a:off x="5724640" y="4480075"/>
              <a:ext cx="423300" cy="4233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1" name="Google Shape;341;g34387bb352b_0_260"/>
            <p:cNvSpPr/>
            <p:nvPr/>
          </p:nvSpPr>
          <p:spPr>
            <a:xfrm>
              <a:off x="6281760" y="4480075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Malgun Gothic"/>
                  <a:ea typeface="Malgun Gothic"/>
                  <a:cs typeface="Malgun Gothic"/>
                  <a:sym typeface="Malgun Gothic"/>
                </a:rPr>
                <a:t>X</a:t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2" name="Google Shape;342;g34387bb352b_0_260"/>
            <p:cNvSpPr/>
            <p:nvPr/>
          </p:nvSpPr>
          <p:spPr>
            <a:xfrm>
              <a:off x="5167520" y="5008700"/>
              <a:ext cx="423300" cy="4233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3" name="Google Shape;343;g34387bb352b_0_260"/>
            <p:cNvSpPr/>
            <p:nvPr/>
          </p:nvSpPr>
          <p:spPr>
            <a:xfrm>
              <a:off x="5724640" y="5008700"/>
              <a:ext cx="423300" cy="4233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4" name="Google Shape;344;g34387bb352b_0_260"/>
            <p:cNvSpPr/>
            <p:nvPr/>
          </p:nvSpPr>
          <p:spPr>
            <a:xfrm>
              <a:off x="6281760" y="5008700"/>
              <a:ext cx="423300" cy="423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Malgun Gothic"/>
                  <a:ea typeface="Malgun Gothic"/>
                  <a:cs typeface="Malgun Gothic"/>
                  <a:sym typeface="Malgun Gothic"/>
                </a:rPr>
                <a:t>X</a:t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5" name="Google Shape;345;g34387bb352b_0_260"/>
            <p:cNvSpPr/>
            <p:nvPr/>
          </p:nvSpPr>
          <p:spPr>
            <a:xfrm>
              <a:off x="5167520" y="5537325"/>
              <a:ext cx="423300" cy="4233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6" name="Google Shape;346;g34387bb352b_0_260"/>
            <p:cNvSpPr/>
            <p:nvPr/>
          </p:nvSpPr>
          <p:spPr>
            <a:xfrm>
              <a:off x="5724640" y="5537325"/>
              <a:ext cx="423300" cy="4233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7" name="Google Shape;347;g34387bb352b_0_260"/>
            <p:cNvSpPr/>
            <p:nvPr/>
          </p:nvSpPr>
          <p:spPr>
            <a:xfrm>
              <a:off x="6281760" y="5537325"/>
              <a:ext cx="423300" cy="4233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4387bb352b_0_343"/>
          <p:cNvSpPr/>
          <p:nvPr/>
        </p:nvSpPr>
        <p:spPr>
          <a:xfrm>
            <a:off x="0" y="6661463"/>
            <a:ext cx="12192000" cy="196500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3" name="Google Shape;353;g34387bb352b_0_343"/>
          <p:cNvSpPr/>
          <p:nvPr/>
        </p:nvSpPr>
        <p:spPr>
          <a:xfrm>
            <a:off x="0" y="0"/>
            <a:ext cx="12192000" cy="196500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4" name="Google Shape;354;g34387bb352b_0_343"/>
          <p:cNvSpPr txBox="1"/>
          <p:nvPr/>
        </p:nvSpPr>
        <p:spPr>
          <a:xfrm>
            <a:off x="5463375" y="6628926"/>
            <a:ext cx="126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</a:t>
            </a: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55" name="Google Shape;355;g34387bb352b_0_343"/>
          <p:cNvPicPr preferRelativeResize="0"/>
          <p:nvPr/>
        </p:nvPicPr>
        <p:blipFill rotWithShape="1">
          <a:blip r:embed="rId3">
            <a:alphaModFix/>
          </a:blip>
          <a:srcRect b="0" l="0" r="0" t="7978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g34387bb352b_0_343"/>
          <p:cNvSpPr txBox="1"/>
          <p:nvPr/>
        </p:nvSpPr>
        <p:spPr>
          <a:xfrm>
            <a:off x="157882" y="624365"/>
            <a:ext cx="315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게임 플레이- </a:t>
            </a: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4387bb352b_0_343"/>
          <p:cNvSpPr txBox="1"/>
          <p:nvPr>
            <p:ph idx="12" type="sldNum"/>
          </p:nvPr>
        </p:nvSpPr>
        <p:spPr>
          <a:xfrm>
            <a:off x="9448800" y="3175"/>
            <a:ext cx="2743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8" name="Google Shape;358;g34387bb352b_0_343"/>
          <p:cNvSpPr txBox="1"/>
          <p:nvPr>
            <p:ph idx="11" type="ftr"/>
          </p:nvPr>
        </p:nvSpPr>
        <p:spPr>
          <a:xfrm>
            <a:off x="86711" y="4762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PUZ_카드 맞추기 퍼즐 시스템 기획서</a:t>
            </a:r>
            <a:endParaRPr/>
          </a:p>
        </p:txBody>
      </p:sp>
      <p:pic>
        <p:nvPicPr>
          <p:cNvPr id="359" name="Google Shape;359;g34387bb352b_0_3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876" y="1272575"/>
            <a:ext cx="4043625" cy="259811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4387bb352b_0_343"/>
          <p:cNvSpPr/>
          <p:nvPr/>
        </p:nvSpPr>
        <p:spPr>
          <a:xfrm>
            <a:off x="1510463" y="2008743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1" name="Google Shape;361;g34387bb352b_0_343"/>
          <p:cNvSpPr txBox="1"/>
          <p:nvPr/>
        </p:nvSpPr>
        <p:spPr>
          <a:xfrm>
            <a:off x="157875" y="4110350"/>
            <a:ext cx="43671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lgun Gothic"/>
              <a:buChar char="-"/>
            </a:pPr>
            <a:r>
              <a:rPr b="1" lang="en-US" sz="1000">
                <a:latin typeface="Malgun Gothic"/>
                <a:ea typeface="Malgun Gothic"/>
                <a:cs typeface="Malgun Gothic"/>
                <a:sym typeface="Malgun Gothic"/>
              </a:rPr>
              <a:t>폭탄을 포함한 타일을 제외한 모든 타일이 완료 상태가 되면 클리어</a:t>
            </a:r>
            <a:endParaRPr b="1"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2" name="Google Shape;362;g34387bb352b_0_343"/>
          <p:cNvSpPr/>
          <p:nvPr/>
        </p:nvSpPr>
        <p:spPr>
          <a:xfrm>
            <a:off x="1952188" y="2008743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3" name="Google Shape;363;g34387bb352b_0_343"/>
          <p:cNvSpPr/>
          <p:nvPr/>
        </p:nvSpPr>
        <p:spPr>
          <a:xfrm>
            <a:off x="2393913" y="2008743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4" name="Google Shape;364;g34387bb352b_0_343"/>
          <p:cNvSpPr/>
          <p:nvPr/>
        </p:nvSpPr>
        <p:spPr>
          <a:xfrm>
            <a:off x="1510463" y="2391955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5" name="Google Shape;365;g34387bb352b_0_343"/>
          <p:cNvSpPr/>
          <p:nvPr/>
        </p:nvSpPr>
        <p:spPr>
          <a:xfrm>
            <a:off x="1952188" y="2391955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6" name="Google Shape;366;g34387bb352b_0_343"/>
          <p:cNvSpPr/>
          <p:nvPr/>
        </p:nvSpPr>
        <p:spPr>
          <a:xfrm>
            <a:off x="2393913" y="2391955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7" name="Google Shape;367;g34387bb352b_0_343"/>
          <p:cNvSpPr/>
          <p:nvPr/>
        </p:nvSpPr>
        <p:spPr>
          <a:xfrm>
            <a:off x="1510463" y="2775155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8" name="Google Shape;368;g34387bb352b_0_343"/>
          <p:cNvSpPr/>
          <p:nvPr/>
        </p:nvSpPr>
        <p:spPr>
          <a:xfrm>
            <a:off x="1952188" y="2775155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9" name="Google Shape;369;g34387bb352b_0_343"/>
          <p:cNvSpPr/>
          <p:nvPr/>
        </p:nvSpPr>
        <p:spPr>
          <a:xfrm>
            <a:off x="2393913" y="2775155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70" name="Google Shape;370;g34387bb352b_0_3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0426" y="1272575"/>
            <a:ext cx="4043625" cy="259811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4387bb352b_0_343"/>
          <p:cNvSpPr/>
          <p:nvPr/>
        </p:nvSpPr>
        <p:spPr>
          <a:xfrm>
            <a:off x="7903013" y="2008743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2" name="Google Shape;372;g34387bb352b_0_343"/>
          <p:cNvSpPr txBox="1"/>
          <p:nvPr/>
        </p:nvSpPr>
        <p:spPr>
          <a:xfrm>
            <a:off x="6550425" y="4110350"/>
            <a:ext cx="4367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lgun Gothic"/>
              <a:buChar char="-"/>
            </a:pPr>
            <a:r>
              <a:rPr b="1" lang="en-US" sz="1000">
                <a:latin typeface="Malgun Gothic"/>
                <a:ea typeface="Malgun Gothic"/>
                <a:cs typeface="Malgun Gothic"/>
                <a:sym typeface="Malgun Gothic"/>
              </a:rPr>
              <a:t>마지막에 남은 타일이 폭탄이라면 게임 클리어</a:t>
            </a:r>
            <a:endParaRPr b="1"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3" name="Google Shape;373;g34387bb352b_0_343"/>
          <p:cNvSpPr/>
          <p:nvPr/>
        </p:nvSpPr>
        <p:spPr>
          <a:xfrm>
            <a:off x="8344738" y="2008743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4" name="Google Shape;374;g34387bb352b_0_343"/>
          <p:cNvSpPr/>
          <p:nvPr/>
        </p:nvSpPr>
        <p:spPr>
          <a:xfrm>
            <a:off x="8786463" y="2008743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g34387bb352b_0_343"/>
          <p:cNvSpPr/>
          <p:nvPr/>
        </p:nvSpPr>
        <p:spPr>
          <a:xfrm>
            <a:off x="7903013" y="2391955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6" name="Google Shape;376;g34387bb352b_0_343"/>
          <p:cNvSpPr/>
          <p:nvPr/>
        </p:nvSpPr>
        <p:spPr>
          <a:xfrm>
            <a:off x="8344738" y="2391955"/>
            <a:ext cx="289500" cy="289500"/>
          </a:xfrm>
          <a:prstGeom prst="ellipse">
            <a:avLst/>
          </a:prstGeom>
          <a:solidFill>
            <a:srgbClr val="7575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7" name="Google Shape;377;g34387bb352b_0_343"/>
          <p:cNvSpPr/>
          <p:nvPr/>
        </p:nvSpPr>
        <p:spPr>
          <a:xfrm>
            <a:off x="8786463" y="2391955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8" name="Google Shape;378;g34387bb352b_0_343"/>
          <p:cNvSpPr/>
          <p:nvPr/>
        </p:nvSpPr>
        <p:spPr>
          <a:xfrm>
            <a:off x="7903013" y="2775155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9" name="Google Shape;379;g34387bb352b_0_343"/>
          <p:cNvSpPr/>
          <p:nvPr/>
        </p:nvSpPr>
        <p:spPr>
          <a:xfrm>
            <a:off x="8344738" y="2775155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0" name="Google Shape;380;g34387bb352b_0_343"/>
          <p:cNvSpPr/>
          <p:nvPr/>
        </p:nvSpPr>
        <p:spPr>
          <a:xfrm>
            <a:off x="8786463" y="2775155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4387bb352b_0_461"/>
          <p:cNvSpPr/>
          <p:nvPr/>
        </p:nvSpPr>
        <p:spPr>
          <a:xfrm>
            <a:off x="0" y="6661463"/>
            <a:ext cx="12192000" cy="196500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6" name="Google Shape;386;g34387bb352b_0_461"/>
          <p:cNvSpPr/>
          <p:nvPr/>
        </p:nvSpPr>
        <p:spPr>
          <a:xfrm>
            <a:off x="0" y="0"/>
            <a:ext cx="12192000" cy="196500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7" name="Google Shape;387;g34387bb352b_0_461"/>
          <p:cNvSpPr txBox="1"/>
          <p:nvPr/>
        </p:nvSpPr>
        <p:spPr>
          <a:xfrm>
            <a:off x="5463375" y="6628926"/>
            <a:ext cx="126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</a:t>
            </a: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88" name="Google Shape;388;g34387bb352b_0_461"/>
          <p:cNvPicPr preferRelativeResize="0"/>
          <p:nvPr/>
        </p:nvPicPr>
        <p:blipFill rotWithShape="1">
          <a:blip r:embed="rId3">
            <a:alphaModFix/>
          </a:blip>
          <a:srcRect b="0" l="0" r="0" t="7978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g34387bb352b_0_461"/>
          <p:cNvSpPr txBox="1"/>
          <p:nvPr/>
        </p:nvSpPr>
        <p:spPr>
          <a:xfrm>
            <a:off x="157882" y="624365"/>
            <a:ext cx="315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게임 플레이- </a:t>
            </a: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4387bb352b_0_461"/>
          <p:cNvSpPr txBox="1"/>
          <p:nvPr>
            <p:ph idx="12" type="sldNum"/>
          </p:nvPr>
        </p:nvSpPr>
        <p:spPr>
          <a:xfrm>
            <a:off x="9448800" y="3175"/>
            <a:ext cx="2743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1" name="Google Shape;391;g34387bb352b_0_461"/>
          <p:cNvSpPr txBox="1"/>
          <p:nvPr>
            <p:ph idx="11" type="ftr"/>
          </p:nvPr>
        </p:nvSpPr>
        <p:spPr>
          <a:xfrm>
            <a:off x="86711" y="4762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PUZ_카드 맞추기 퍼즐 시스템 기획서</a:t>
            </a:r>
            <a:endParaRPr/>
          </a:p>
        </p:txBody>
      </p:sp>
      <p:pic>
        <p:nvPicPr>
          <p:cNvPr id="392" name="Google Shape;392;g34387bb352b_0_4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876" y="1272575"/>
            <a:ext cx="4043625" cy="259811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34387bb352b_0_461"/>
          <p:cNvSpPr txBox="1"/>
          <p:nvPr/>
        </p:nvSpPr>
        <p:spPr>
          <a:xfrm>
            <a:off x="157875" y="4110350"/>
            <a:ext cx="650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lgun Gothic"/>
              <a:buChar char="-"/>
            </a:pPr>
            <a:r>
              <a:rPr b="1" lang="en-US" sz="1200">
                <a:latin typeface="Malgun Gothic"/>
                <a:ea typeface="Malgun Gothic"/>
                <a:cs typeface="Malgun Gothic"/>
                <a:sym typeface="Malgun Gothic"/>
              </a:rPr>
              <a:t>제한 시간동안 폭탄을 제외한 모든 타일을 활성화 시키지 못할 시 실패</a:t>
            </a:r>
            <a:endParaRPr b="1" sz="12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4" name="Google Shape;394;g34387bb352b_0_461"/>
          <p:cNvSpPr/>
          <p:nvPr/>
        </p:nvSpPr>
        <p:spPr>
          <a:xfrm>
            <a:off x="1510463" y="2008743"/>
            <a:ext cx="289500" cy="289500"/>
          </a:xfrm>
          <a:prstGeom prst="ellipse">
            <a:avLst/>
          </a:prstGeom>
          <a:solidFill>
            <a:srgbClr val="7575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5" name="Google Shape;395;g34387bb352b_0_461"/>
          <p:cNvSpPr/>
          <p:nvPr/>
        </p:nvSpPr>
        <p:spPr>
          <a:xfrm>
            <a:off x="1952188" y="2008743"/>
            <a:ext cx="289500" cy="289500"/>
          </a:xfrm>
          <a:prstGeom prst="ellipse">
            <a:avLst/>
          </a:prstGeom>
          <a:solidFill>
            <a:srgbClr val="7575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6" name="Google Shape;396;g34387bb352b_0_461"/>
          <p:cNvSpPr/>
          <p:nvPr/>
        </p:nvSpPr>
        <p:spPr>
          <a:xfrm>
            <a:off x="2393913" y="2008743"/>
            <a:ext cx="289500" cy="289500"/>
          </a:xfrm>
          <a:prstGeom prst="ellipse">
            <a:avLst/>
          </a:prstGeom>
          <a:solidFill>
            <a:srgbClr val="7575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7" name="Google Shape;397;g34387bb352b_0_461"/>
          <p:cNvSpPr/>
          <p:nvPr/>
        </p:nvSpPr>
        <p:spPr>
          <a:xfrm>
            <a:off x="1510463" y="2391955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8" name="Google Shape;398;g34387bb352b_0_461"/>
          <p:cNvSpPr/>
          <p:nvPr/>
        </p:nvSpPr>
        <p:spPr>
          <a:xfrm>
            <a:off x="1952188" y="2391955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9" name="Google Shape;399;g34387bb352b_0_461"/>
          <p:cNvSpPr/>
          <p:nvPr/>
        </p:nvSpPr>
        <p:spPr>
          <a:xfrm>
            <a:off x="2393913" y="2391955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0" name="Google Shape;400;g34387bb352b_0_461"/>
          <p:cNvSpPr/>
          <p:nvPr/>
        </p:nvSpPr>
        <p:spPr>
          <a:xfrm>
            <a:off x="1510463" y="2775155"/>
            <a:ext cx="289500" cy="289500"/>
          </a:xfrm>
          <a:prstGeom prst="ellipse">
            <a:avLst/>
          </a:prstGeom>
          <a:solidFill>
            <a:srgbClr val="7575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1" name="Google Shape;401;g34387bb352b_0_461"/>
          <p:cNvSpPr/>
          <p:nvPr/>
        </p:nvSpPr>
        <p:spPr>
          <a:xfrm>
            <a:off x="1952188" y="2775155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2" name="Google Shape;402;g34387bb352b_0_461"/>
          <p:cNvSpPr/>
          <p:nvPr/>
        </p:nvSpPr>
        <p:spPr>
          <a:xfrm>
            <a:off x="2393913" y="2775155"/>
            <a:ext cx="289500" cy="28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g34387bb352b_0_183" title="free-icon-pointing-4151692.png"/>
          <p:cNvPicPr preferRelativeResize="0"/>
          <p:nvPr/>
        </p:nvPicPr>
        <p:blipFill>
          <a:blip r:embed="rId4">
            <a:alphaModFix amt="29000"/>
          </a:blip>
          <a:stretch>
            <a:fillRect/>
          </a:stretch>
        </p:blipFill>
        <p:spPr>
          <a:xfrm rot="-3245361">
            <a:off x="5206467" y="908369"/>
            <a:ext cx="1218261" cy="12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g34387bb352b_0_183"/>
          <p:cNvSpPr/>
          <p:nvPr/>
        </p:nvSpPr>
        <p:spPr>
          <a:xfrm>
            <a:off x="0" y="6661463"/>
            <a:ext cx="12192000" cy="196500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9" name="Google Shape;409;g34387bb352b_0_183"/>
          <p:cNvSpPr/>
          <p:nvPr/>
        </p:nvSpPr>
        <p:spPr>
          <a:xfrm>
            <a:off x="0" y="0"/>
            <a:ext cx="12192000" cy="196500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0" name="Google Shape;410;g34387bb352b_0_183"/>
          <p:cNvSpPr txBox="1"/>
          <p:nvPr/>
        </p:nvSpPr>
        <p:spPr>
          <a:xfrm>
            <a:off x="5463375" y="6628926"/>
            <a:ext cx="126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</a:t>
            </a: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11" name="Google Shape;411;g34387bb352b_0_183"/>
          <p:cNvPicPr preferRelativeResize="0"/>
          <p:nvPr/>
        </p:nvPicPr>
        <p:blipFill rotWithShape="1">
          <a:blip r:embed="rId5">
            <a:alphaModFix/>
          </a:blip>
          <a:srcRect b="0" l="0" r="0" t="7978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g34387bb352b_0_183"/>
          <p:cNvSpPr txBox="1"/>
          <p:nvPr/>
        </p:nvSpPr>
        <p:spPr>
          <a:xfrm>
            <a:off x="157882" y="624365"/>
            <a:ext cx="315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시스템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4387bb352b_0_183"/>
          <p:cNvSpPr txBox="1"/>
          <p:nvPr>
            <p:ph idx="12" type="sldNum"/>
          </p:nvPr>
        </p:nvSpPr>
        <p:spPr>
          <a:xfrm>
            <a:off x="9448800" y="3175"/>
            <a:ext cx="2743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4" name="Google Shape;414;g34387bb352b_0_183"/>
          <p:cNvSpPr txBox="1"/>
          <p:nvPr>
            <p:ph idx="11" type="ftr"/>
          </p:nvPr>
        </p:nvSpPr>
        <p:spPr>
          <a:xfrm>
            <a:off x="86711" y="4762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PUZ_카드 맞추기 퍼즐 시스템 기획서</a:t>
            </a:r>
            <a:endParaRPr/>
          </a:p>
        </p:txBody>
      </p:sp>
      <p:pic>
        <p:nvPicPr>
          <p:cNvPr id="415" name="Google Shape;415;g34387bb352b_0_183" title="free-icon-pointing-415169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245361">
            <a:off x="2681742" y="908369"/>
            <a:ext cx="1218261" cy="12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34387bb352b_0_183"/>
          <p:cNvSpPr txBox="1"/>
          <p:nvPr/>
        </p:nvSpPr>
        <p:spPr>
          <a:xfrm flipH="1">
            <a:off x="776475" y="3867463"/>
            <a:ext cx="37296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타일의 콜리전 영역(6*6)에 접근하면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highlight>
                  <a:schemeClr val="accent6"/>
                </a:highlight>
                <a:latin typeface="Malgun Gothic"/>
                <a:ea typeface="Malgun Gothic"/>
                <a:cs typeface="Malgun Gothic"/>
                <a:sym typeface="Malgun Gothic"/>
              </a:rPr>
              <a:t>타일의 바닥 색상을 변경하여 호버 표시 </a:t>
            </a:r>
            <a:endParaRPr sz="1200">
              <a:solidFill>
                <a:schemeClr val="dk1"/>
              </a:solidFill>
              <a:highlight>
                <a:schemeClr val="accent6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트리거로 상호작용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상호작용 시 진동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번 상호작용한 타일을 다시 상호작용하는 것은 불가능함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7" name="Google Shape;417;g34387bb352b_0_183"/>
          <p:cNvSpPr/>
          <p:nvPr/>
        </p:nvSpPr>
        <p:spPr>
          <a:xfrm>
            <a:off x="1577413" y="3031554"/>
            <a:ext cx="985500" cy="563100"/>
          </a:xfrm>
          <a:prstGeom prst="ca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8" name="Google Shape;418;g34387bb352b_0_183"/>
          <p:cNvSpPr/>
          <p:nvPr/>
        </p:nvSpPr>
        <p:spPr>
          <a:xfrm>
            <a:off x="1577425" y="3029625"/>
            <a:ext cx="985500" cy="291000"/>
          </a:xfrm>
          <a:prstGeom prst="ellipse">
            <a:avLst/>
          </a:prstGeom>
          <a:solidFill>
            <a:srgbClr val="7575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19" name="Google Shape;419;g34387bb352b_0_183" title="free-icon-pointing-415169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245361">
            <a:off x="4538792" y="1749419"/>
            <a:ext cx="1218261" cy="12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g34387bb352b_0_183"/>
          <p:cNvSpPr/>
          <p:nvPr/>
        </p:nvSpPr>
        <p:spPr>
          <a:xfrm>
            <a:off x="3979463" y="3031554"/>
            <a:ext cx="985500" cy="563100"/>
          </a:xfrm>
          <a:prstGeom prst="ca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1" name="Google Shape;421;g34387bb352b_0_183"/>
          <p:cNvSpPr/>
          <p:nvPr/>
        </p:nvSpPr>
        <p:spPr>
          <a:xfrm>
            <a:off x="3979475" y="3029625"/>
            <a:ext cx="985500" cy="2910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22" name="Google Shape;422;g34387bb352b_0_183"/>
          <p:cNvCxnSpPr/>
          <p:nvPr/>
        </p:nvCxnSpPr>
        <p:spPr>
          <a:xfrm flipH="1">
            <a:off x="5192925" y="1499800"/>
            <a:ext cx="588600" cy="750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4387bb352b_0_493"/>
          <p:cNvSpPr/>
          <p:nvPr/>
        </p:nvSpPr>
        <p:spPr>
          <a:xfrm>
            <a:off x="0" y="6661463"/>
            <a:ext cx="12192000" cy="196500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8" name="Google Shape;428;g34387bb352b_0_493"/>
          <p:cNvSpPr/>
          <p:nvPr/>
        </p:nvSpPr>
        <p:spPr>
          <a:xfrm>
            <a:off x="0" y="0"/>
            <a:ext cx="12192000" cy="196500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9" name="Google Shape;429;g34387bb352b_0_493"/>
          <p:cNvSpPr txBox="1"/>
          <p:nvPr/>
        </p:nvSpPr>
        <p:spPr>
          <a:xfrm>
            <a:off x="5463375" y="6628926"/>
            <a:ext cx="126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30" name="Google Shape;430;g34387bb352b_0_493"/>
          <p:cNvPicPr preferRelativeResize="0"/>
          <p:nvPr/>
        </p:nvPicPr>
        <p:blipFill rotWithShape="1">
          <a:blip r:embed="rId4">
            <a:alphaModFix/>
          </a:blip>
          <a:srcRect b="0" l="0" r="0" t="7978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g34387bb352b_0_493"/>
          <p:cNvSpPr txBox="1"/>
          <p:nvPr/>
        </p:nvSpPr>
        <p:spPr>
          <a:xfrm>
            <a:off x="157882" y="624365"/>
            <a:ext cx="315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테이블 구조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4387bb352b_0_493"/>
          <p:cNvSpPr txBox="1"/>
          <p:nvPr>
            <p:ph idx="12" type="sldNum"/>
          </p:nvPr>
        </p:nvSpPr>
        <p:spPr>
          <a:xfrm>
            <a:off x="9448800" y="3175"/>
            <a:ext cx="27432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3" name="Google Shape;433;g34387bb352b_0_493"/>
          <p:cNvSpPr txBox="1"/>
          <p:nvPr>
            <p:ph idx="11" type="ftr"/>
          </p:nvPr>
        </p:nvSpPr>
        <p:spPr>
          <a:xfrm>
            <a:off x="86711" y="4762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PUZ_카드 맞추기 퍼즐 시스템 기획서</a:t>
            </a:r>
            <a:endParaRPr/>
          </a:p>
        </p:txBody>
      </p:sp>
      <p:sp>
        <p:nvSpPr>
          <p:cNvPr id="434" name="Google Shape;434;g34387bb352b_0_493"/>
          <p:cNvSpPr txBox="1"/>
          <p:nvPr/>
        </p:nvSpPr>
        <p:spPr>
          <a:xfrm>
            <a:off x="1250832" y="1882338"/>
            <a:ext cx="2250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스위치 퍼즐 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퍼즐의 난이도</a:t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난이도별 제한시간</a:t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난이도별 라운드 개수</a:t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난이도에 속한 퍼즐 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4387bb352b_0_493"/>
          <p:cNvSpPr txBox="1"/>
          <p:nvPr/>
        </p:nvSpPr>
        <p:spPr>
          <a:xfrm>
            <a:off x="1250832" y="1882338"/>
            <a:ext cx="2250300" cy="1385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스위치 퍼즐 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퍼즐의 난이도</a:t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난이도별 제한시간</a:t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난이도별 라운드 개수</a:t>
            </a:r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highlight>
                  <a:srgbClr val="FFD966"/>
                </a:highlight>
                <a:latin typeface="Malgun Gothic"/>
                <a:ea typeface="Malgun Gothic"/>
                <a:cs typeface="Malgun Gothic"/>
                <a:sym typeface="Malgun Gothic"/>
              </a:rPr>
              <a:t>난이도에 속한 퍼즐 ID</a:t>
            </a:r>
            <a:endParaRPr b="0" i="0" sz="1400" u="none" cap="none" strike="noStrike">
              <a:solidFill>
                <a:srgbClr val="000000"/>
              </a:solidFill>
              <a:highlight>
                <a:srgbClr val="FFD96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4387bb352b_0_493"/>
          <p:cNvSpPr txBox="1"/>
          <p:nvPr/>
        </p:nvSpPr>
        <p:spPr>
          <a:xfrm>
            <a:off x="1250832" y="1605453"/>
            <a:ext cx="2250300" cy="27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PUZ 메인 테이블</a:t>
            </a:r>
            <a:endParaRPr b="1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7" name="Google Shape;437;g34387bb352b_0_493"/>
          <p:cNvSpPr txBox="1"/>
          <p:nvPr/>
        </p:nvSpPr>
        <p:spPr>
          <a:xfrm>
            <a:off x="4413107" y="1882338"/>
            <a:ext cx="2250300" cy="1662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Char char="-"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퍼즐 ID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Char char="-"/>
            </a:pPr>
            <a:r>
              <a:rPr lang="en-US" sz="1200">
                <a:highlight>
                  <a:srgbClr val="FFD966"/>
                </a:highlight>
                <a:latin typeface="Malgun Gothic"/>
                <a:ea typeface="Malgun Gothic"/>
                <a:cs typeface="Malgun Gothic"/>
                <a:sym typeface="Malgun Gothic"/>
              </a:rPr>
              <a:t>오브젝트 그룹 ID</a:t>
            </a:r>
            <a:endParaRPr sz="1200">
              <a:highlight>
                <a:srgbClr val="FFD966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lgun Gothic"/>
              <a:buChar char="-"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X열 정렬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lgun Gothic"/>
              <a:buChar char="-"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Y열 정렬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lgun Gothic"/>
              <a:buChar char="-"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폭탄 수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lgun Gothic"/>
              <a:buChar char="-"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오브젝트 수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8" name="Google Shape;438;g34387bb352b_0_493"/>
          <p:cNvSpPr txBox="1"/>
          <p:nvPr/>
        </p:nvSpPr>
        <p:spPr>
          <a:xfrm>
            <a:off x="4413107" y="1605453"/>
            <a:ext cx="2250300" cy="24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NPUZ_06_FieldData</a:t>
            </a:r>
            <a:endParaRPr b="1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39" name="Google Shape;439;g34387bb352b_0_493"/>
          <p:cNvCxnSpPr>
            <a:stCxn id="435" idx="2"/>
            <a:endCxn id="437" idx="1"/>
          </p:cNvCxnSpPr>
          <p:nvPr/>
        </p:nvCxnSpPr>
        <p:spPr>
          <a:xfrm rot="-5400000">
            <a:off x="3117432" y="1972188"/>
            <a:ext cx="554100" cy="2037000"/>
          </a:xfrm>
          <a:prstGeom prst="bentConnector4">
            <a:avLst>
              <a:gd fmla="val -42975" name="adj1"/>
              <a:gd fmla="val 77621" name="adj2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40" name="Google Shape;440;g34387bb352b_0_493"/>
          <p:cNvSpPr txBox="1"/>
          <p:nvPr/>
        </p:nvSpPr>
        <p:spPr>
          <a:xfrm>
            <a:off x="7005957" y="1882338"/>
            <a:ext cx="2250300" cy="1662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lgun Gothic"/>
              <a:buChar char="-"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오브젝트 ID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   타입(일반/함정)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strike="sngStrike"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en-US" sz="1200" strike="sngStrike">
                <a:latin typeface="Malgun Gothic"/>
                <a:ea typeface="Malgun Gothic"/>
                <a:cs typeface="Malgun Gothic"/>
                <a:sym typeface="Malgun Gothic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챕터</a:t>
            </a:r>
            <a:endParaRPr sz="1200" strike="sngStrike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lgun Gothic"/>
              <a:buChar char="-"/>
            </a:pPr>
            <a:r>
              <a:rPr b="1" lang="en-US" sz="1200">
                <a:highlight>
                  <a:srgbClr val="FFF2CC"/>
                </a:highlight>
                <a:latin typeface="Malgun Gothic"/>
                <a:ea typeface="Malgun Gothic"/>
                <a:cs typeface="Malgun Gothic"/>
                <a:sym typeface="Malgun Gothic"/>
              </a:rPr>
              <a:t>퍼즐 오브젝트 그룹</a:t>
            </a:r>
            <a:endParaRPr b="1" sz="1200">
              <a:highlight>
                <a:srgbClr val="FFF2CC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lgun Gothic"/>
              <a:buChar char="-"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스태틱 메쉬 경로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lgun Gothic"/>
              <a:buChar char="-"/>
            </a:pPr>
            <a:r>
              <a:rPr lang="en-US" sz="1200">
                <a:latin typeface="Malgun Gothic"/>
                <a:ea typeface="Malgun Gothic"/>
                <a:cs typeface="Malgun Gothic"/>
                <a:sym typeface="Malgun Gothic"/>
              </a:rPr>
              <a:t>레벨 사이즈</a:t>
            </a:r>
            <a:endParaRPr sz="12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1" name="Google Shape;441;g34387bb352b_0_493"/>
          <p:cNvSpPr txBox="1"/>
          <p:nvPr/>
        </p:nvSpPr>
        <p:spPr>
          <a:xfrm>
            <a:off x="7005957" y="1605453"/>
            <a:ext cx="2250300" cy="24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NPUZ_06_ObjectData</a:t>
            </a:r>
            <a:endParaRPr b="1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42" name="Google Shape;442;g34387bb352b_0_493"/>
          <p:cNvCxnSpPr>
            <a:stCxn id="437" idx="3"/>
            <a:endCxn id="440" idx="1"/>
          </p:cNvCxnSpPr>
          <p:nvPr/>
        </p:nvCxnSpPr>
        <p:spPr>
          <a:xfrm>
            <a:off x="6663407" y="2713488"/>
            <a:ext cx="342600" cy="6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43" name="Google Shape;443;g34387bb352b_0_493"/>
          <p:cNvSpPr txBox="1"/>
          <p:nvPr/>
        </p:nvSpPr>
        <p:spPr>
          <a:xfrm>
            <a:off x="1250825" y="3902463"/>
            <a:ext cx="6504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Malgun Gothic"/>
                <a:ea typeface="Malgun Gothic"/>
                <a:cs typeface="Malgun Gothic"/>
                <a:sym typeface="Malgun Gothic"/>
              </a:rPr>
              <a:t>필드 데이터 테이블</a:t>
            </a:r>
            <a:endParaRPr b="1"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Malgun Gothic"/>
                <a:ea typeface="Malgun Gothic"/>
                <a:cs typeface="Malgun Gothic"/>
                <a:sym typeface="Malgun Gothic"/>
              </a:rPr>
              <a:t>오브젝트의 그룹 ID &gt;</a:t>
            </a:r>
            <a:endParaRPr b="1"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Malgun Gothic"/>
                <a:ea typeface="Malgun Gothic"/>
                <a:cs typeface="Malgun Gothic"/>
                <a:sym typeface="Malgun Gothic"/>
              </a:rPr>
              <a:t>동일한 그룹 ID로 묶이는 오브젝트를 데이터 테이블에서 호출</a:t>
            </a:r>
            <a:endParaRPr b="1"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Malgun Gothic"/>
                <a:ea typeface="Malgun Gothic"/>
                <a:cs typeface="Malgun Gothic"/>
                <a:sym typeface="Malgun Gothic"/>
              </a:rPr>
              <a:t>X열/Y열 정렬에 따라 폭탄/오브젝트 배치</a:t>
            </a:r>
            <a:endParaRPr b="1"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Malgun Gothic"/>
                <a:ea typeface="Malgun Gothic"/>
                <a:cs typeface="Malgun Gothic"/>
                <a:sym typeface="Malgun Gothic"/>
              </a:rPr>
              <a:t>오브젝트 데이터로 오브젝트 ID 및 타입 관리</a:t>
            </a:r>
            <a:endParaRPr b="1"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Malgun Gothic"/>
                <a:ea typeface="Malgun Gothic"/>
                <a:cs typeface="Malgun Gothic"/>
                <a:sym typeface="Malgun Gothic"/>
              </a:rPr>
              <a:t>타입 지정(함정/일반 여부)</a:t>
            </a:r>
            <a:endParaRPr b="1"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Malgun Gothic"/>
                <a:ea typeface="Malgun Gothic"/>
                <a:cs typeface="Malgun Gothic"/>
                <a:sym typeface="Malgun Gothic"/>
              </a:rPr>
              <a:t>챕터(1/2/3/4)</a:t>
            </a:r>
            <a:endParaRPr b="1"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Malgun Gothic"/>
                <a:ea typeface="Malgun Gothic"/>
                <a:cs typeface="Malgun Gothic"/>
                <a:sym typeface="Malgun Gothic"/>
              </a:rPr>
              <a:t>오브젝트 그룹 ID 할당</a:t>
            </a:r>
            <a:endParaRPr b="1"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Malgun Gothic"/>
                <a:ea typeface="Malgun Gothic"/>
                <a:cs typeface="Malgun Gothic"/>
                <a:sym typeface="Malgun Gothic"/>
              </a:rPr>
              <a:t>스태틱 메쉬 경로 지정</a:t>
            </a:r>
            <a:endParaRPr b="1" sz="12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Malgun Gothic"/>
                <a:ea typeface="Malgun Gothic"/>
                <a:cs typeface="Malgun Gothic"/>
                <a:sym typeface="Malgun Gothic"/>
              </a:rPr>
              <a:t>각 오브젝트의 레벨 사이즈 지정</a:t>
            </a:r>
            <a:endParaRPr b="1" sz="12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2024-03-28T07:52:26Z</dcterms:created>
  <dc:creator>뉴메틱</dc:creator>
</cp:coreProperties>
</file>