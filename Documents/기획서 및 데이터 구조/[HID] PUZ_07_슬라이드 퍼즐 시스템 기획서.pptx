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hWBH2vWwhZGGaTxt0qmKgFh1HE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C64CCC0-4CA0-4EFC-8886-F6B99C8A4FFF}">
  <a:tblStyle styleId="{0C64CCC0-4CA0-4EFC-8886-F6B99C8A4FF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3" name="Google Shape;31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8" name="Google Shape;358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2" name="Google Shape;372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3" name="Google Shape;40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9" name="Google Shape;41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0" y="3175"/>
            <a:ext cx="34906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9824484" y="1"/>
            <a:ext cx="2367516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0" y="0"/>
            <a:ext cx="309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hyperlink" Target="mailto:tkoh@newmatic.kr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34.jpg"/><Relationship Id="rId10" Type="http://schemas.openxmlformats.org/officeDocument/2006/relationships/image" Target="../media/image8.jpg"/><Relationship Id="rId13" Type="http://schemas.openxmlformats.org/officeDocument/2006/relationships/image" Target="../media/image15.jpg"/><Relationship Id="rId1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6.jpg"/><Relationship Id="rId9" Type="http://schemas.openxmlformats.org/officeDocument/2006/relationships/image" Target="../media/image18.jpg"/><Relationship Id="rId15" Type="http://schemas.openxmlformats.org/officeDocument/2006/relationships/image" Target="../media/image16.jpg"/><Relationship Id="rId14" Type="http://schemas.openxmlformats.org/officeDocument/2006/relationships/image" Target="../media/image3.jpg"/><Relationship Id="rId17" Type="http://schemas.openxmlformats.org/officeDocument/2006/relationships/image" Target="../media/image4.jpg"/><Relationship Id="rId16" Type="http://schemas.openxmlformats.org/officeDocument/2006/relationships/image" Target="../media/image11.jpg"/><Relationship Id="rId5" Type="http://schemas.openxmlformats.org/officeDocument/2006/relationships/image" Target="../media/image9.jpg"/><Relationship Id="rId6" Type="http://schemas.openxmlformats.org/officeDocument/2006/relationships/image" Target="../media/image12.jpg"/><Relationship Id="rId18" Type="http://schemas.openxmlformats.org/officeDocument/2006/relationships/image" Target="../media/image7.jpg"/><Relationship Id="rId7" Type="http://schemas.openxmlformats.org/officeDocument/2006/relationships/image" Target="../media/image10.jpg"/><Relationship Id="rId8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3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38.png"/><Relationship Id="rId5" Type="http://schemas.openxmlformats.org/officeDocument/2006/relationships/image" Target="../media/image33.png"/><Relationship Id="rId6" Type="http://schemas.openxmlformats.org/officeDocument/2006/relationships/image" Target="../media/image35.png"/><Relationship Id="rId7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34.jpg"/><Relationship Id="rId10" Type="http://schemas.openxmlformats.org/officeDocument/2006/relationships/image" Target="../media/image8.jpg"/><Relationship Id="rId13" Type="http://schemas.openxmlformats.org/officeDocument/2006/relationships/image" Target="../media/image15.jpg"/><Relationship Id="rId1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6.jpg"/><Relationship Id="rId9" Type="http://schemas.openxmlformats.org/officeDocument/2006/relationships/image" Target="../media/image18.jpg"/><Relationship Id="rId15" Type="http://schemas.openxmlformats.org/officeDocument/2006/relationships/image" Target="../media/image16.jpg"/><Relationship Id="rId14" Type="http://schemas.openxmlformats.org/officeDocument/2006/relationships/image" Target="../media/image3.jpg"/><Relationship Id="rId17" Type="http://schemas.openxmlformats.org/officeDocument/2006/relationships/image" Target="../media/image4.jpg"/><Relationship Id="rId16" Type="http://schemas.openxmlformats.org/officeDocument/2006/relationships/image" Target="../media/image11.jpg"/><Relationship Id="rId5" Type="http://schemas.openxmlformats.org/officeDocument/2006/relationships/image" Target="../media/image9.jpg"/><Relationship Id="rId6" Type="http://schemas.openxmlformats.org/officeDocument/2006/relationships/image" Target="../media/image12.jpg"/><Relationship Id="rId18" Type="http://schemas.openxmlformats.org/officeDocument/2006/relationships/image" Target="../media/image7.jpg"/><Relationship Id="rId7" Type="http://schemas.openxmlformats.org/officeDocument/2006/relationships/image" Target="../media/image10.jpg"/><Relationship Id="rId8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42.png"/></Relationships>
</file>

<file path=ppt/slides/_rels/slide12.xml.rels><?xml version="1.0" encoding="UTF-8" standalone="yes"?><Relationships xmlns="http://schemas.openxmlformats.org/package/2006/relationships"><Relationship Id="rId20" Type="http://schemas.openxmlformats.org/officeDocument/2006/relationships/image" Target="../media/image40.jpg"/><Relationship Id="rId11" Type="http://schemas.openxmlformats.org/officeDocument/2006/relationships/image" Target="../media/image34.jpg"/><Relationship Id="rId10" Type="http://schemas.openxmlformats.org/officeDocument/2006/relationships/image" Target="../media/image8.jpg"/><Relationship Id="rId13" Type="http://schemas.openxmlformats.org/officeDocument/2006/relationships/image" Target="../media/image15.jpg"/><Relationship Id="rId1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6.jpg"/><Relationship Id="rId9" Type="http://schemas.openxmlformats.org/officeDocument/2006/relationships/image" Target="../media/image18.jpg"/><Relationship Id="rId15" Type="http://schemas.openxmlformats.org/officeDocument/2006/relationships/image" Target="../media/image16.jpg"/><Relationship Id="rId14" Type="http://schemas.openxmlformats.org/officeDocument/2006/relationships/image" Target="../media/image3.jpg"/><Relationship Id="rId17" Type="http://schemas.openxmlformats.org/officeDocument/2006/relationships/image" Target="../media/image4.jpg"/><Relationship Id="rId16" Type="http://schemas.openxmlformats.org/officeDocument/2006/relationships/image" Target="../media/image11.jpg"/><Relationship Id="rId5" Type="http://schemas.openxmlformats.org/officeDocument/2006/relationships/image" Target="../media/image9.jpg"/><Relationship Id="rId19" Type="http://schemas.openxmlformats.org/officeDocument/2006/relationships/image" Target="../media/image41.jpg"/><Relationship Id="rId6" Type="http://schemas.openxmlformats.org/officeDocument/2006/relationships/image" Target="../media/image12.jpg"/><Relationship Id="rId18" Type="http://schemas.openxmlformats.org/officeDocument/2006/relationships/image" Target="../media/image7.jpg"/><Relationship Id="rId7" Type="http://schemas.openxmlformats.org/officeDocument/2006/relationships/image" Target="../media/image10.jpg"/><Relationship Id="rId8" Type="http://schemas.openxmlformats.org/officeDocument/2006/relationships/image" Target="../media/image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44.png"/><Relationship Id="rId5" Type="http://schemas.openxmlformats.org/officeDocument/2006/relationships/image" Target="../media/image4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5019" y="1827108"/>
            <a:ext cx="5881962" cy="1370096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3312233" y="3660797"/>
            <a:ext cx="556753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PUZ_07_슬라이드 퍼즐 시스템 기획서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8879767" y="6179874"/>
            <a:ext cx="3157640" cy="584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sng" cap="none" strike="noStrike">
                <a:solidFill>
                  <a:srgbClr val="757070"/>
                </a:solidFill>
                <a:latin typeface="Malgun Gothic"/>
                <a:ea typeface="Malgun Gothic"/>
                <a:cs typeface="Malgun Gothic"/>
                <a:sym typeface="Malgun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ghjho@newmatic.kr</a:t>
            </a:r>
            <a:endParaRPr b="1" i="0" sz="1600" u="none" cap="none" strike="noStrike">
              <a:solidFill>
                <a:srgbClr val="75707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57070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조강희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0" y="6661463"/>
            <a:ext cx="12192000" cy="196537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0" y="0"/>
            <a:ext cx="12192000" cy="196537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5463375" y="6628926"/>
            <a:ext cx="1263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</a:t>
            </a:r>
            <a:r>
              <a:rPr b="1" lang="en-US" sz="10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105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7980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/>
          <p:nvPr>
            <p:ph idx="12" type="sldNum"/>
          </p:nvPr>
        </p:nvSpPr>
        <p:spPr>
          <a:xfrm>
            <a:off x="9824484" y="0"/>
            <a:ext cx="2367516" cy="196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2"/>
          <p:cNvSpPr txBox="1"/>
          <p:nvPr>
            <p:ph idx="11" type="ftr"/>
          </p:nvPr>
        </p:nvSpPr>
        <p:spPr>
          <a:xfrm>
            <a:off x="0" y="3175"/>
            <a:ext cx="36893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PUZ_07_슬라이드 퍼즐 시스템 기획서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157882" y="624365"/>
            <a:ext cx="31576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 Ver.</a:t>
            </a:r>
            <a:endParaRPr b="1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524322" y="1113706"/>
            <a:ext cx="111435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1.0.0 | 25.03.25 | 조강희 | 초안 작성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Char char="•"/>
            </a:pPr>
            <a:r>
              <a:rPr lang="en-US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1.0.1 | 25.04.14 | 조강희 | 연출 관련 내용 추가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Char char="•"/>
            </a:pPr>
            <a:r>
              <a:rPr lang="en-US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1.0.2 | 25.04.17 | 조강희 | 인터랙션 관련 내용 수정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22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/>
          <p:nvPr/>
        </p:nvSpPr>
        <p:spPr>
          <a:xfrm>
            <a:off x="0" y="6661463"/>
            <a:ext cx="12192000" cy="196537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0" y="0"/>
            <a:ext cx="12192000" cy="196537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5463375" y="6628926"/>
            <a:ext cx="126305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Ver.1.0.0</a:t>
            </a:r>
            <a:endParaRPr b="1" i="0" sz="105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7980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157882" y="624365"/>
            <a:ext cx="31576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 문서의 목적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 txBox="1"/>
          <p:nvPr>
            <p:ph idx="12" type="sldNum"/>
          </p:nvPr>
        </p:nvSpPr>
        <p:spPr>
          <a:xfrm>
            <a:off x="9824484" y="1"/>
            <a:ext cx="2367516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" name="Google Shape;113;p3"/>
          <p:cNvSpPr txBox="1"/>
          <p:nvPr>
            <p:ph idx="11" type="ftr"/>
          </p:nvPr>
        </p:nvSpPr>
        <p:spPr>
          <a:xfrm>
            <a:off x="0" y="3175"/>
            <a:ext cx="36957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PUZ_07_슬라이드 퍼즐 시스템 기획서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524322" y="1113706"/>
            <a:ext cx="11143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슬라이드 퍼즐 시스템 기획</a:t>
            </a:r>
            <a:b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시스템</a:t>
            </a:r>
            <a:b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테이블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•"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슬라이드 퍼즐 연출</a:t>
            </a: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0" y="6661463"/>
            <a:ext cx="12192000" cy="196537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0" y="0"/>
            <a:ext cx="12192000" cy="196537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5463375" y="6628926"/>
            <a:ext cx="126305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Ver.1.0.0</a:t>
            </a:r>
            <a:endParaRPr b="1" i="0" sz="105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22" name="Google Shape;122;p4"/>
          <p:cNvPicPr preferRelativeResize="0"/>
          <p:nvPr/>
        </p:nvPicPr>
        <p:blipFill rotWithShape="1">
          <a:blip r:embed="rId3">
            <a:alphaModFix/>
          </a:blip>
          <a:srcRect b="0" l="0" r="0" t="7980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 txBox="1"/>
          <p:nvPr>
            <p:ph idx="12" type="sldNum"/>
          </p:nvPr>
        </p:nvSpPr>
        <p:spPr>
          <a:xfrm>
            <a:off x="9824484" y="1"/>
            <a:ext cx="2367516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4"/>
          <p:cNvSpPr txBox="1"/>
          <p:nvPr>
            <p:ph idx="11" type="ftr"/>
          </p:nvPr>
        </p:nvSpPr>
        <p:spPr>
          <a:xfrm>
            <a:off x="0" y="3175"/>
            <a:ext cx="3723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PUZ_07_슬라이드 퍼즐 시스템 기획서</a:t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157882" y="624365"/>
            <a:ext cx="31576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 슬라이드 퍼즐 컨셉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524322" y="1113706"/>
            <a:ext cx="11143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 </a:t>
            </a: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 조각을</a:t>
            </a: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 위치로 돌려야한다.</a:t>
            </a:r>
            <a:b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27" name="Google Shape;127;p4"/>
          <p:cNvGrpSpPr/>
          <p:nvPr/>
        </p:nvGrpSpPr>
        <p:grpSpPr>
          <a:xfrm>
            <a:off x="1304042" y="1876279"/>
            <a:ext cx="3696106" cy="3678743"/>
            <a:chOff x="1304042" y="1876279"/>
            <a:chExt cx="3696106" cy="3678743"/>
          </a:xfrm>
        </p:grpSpPr>
        <p:pic>
          <p:nvPicPr>
            <p:cNvPr descr="하늘, 하늘빛, 일렉트릭 블루, 야외이(가) 표시된 사진&#10;&#10;AI가 생성한 콘텐츠는 부정확할 수 있습니다." id="128" name="Google Shape;128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04042" y="1880160"/>
              <a:ext cx="902901" cy="9029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바퀴, 교통, 야외이(가) 표시된 사진&#10;&#10;AI가 생성한 콘텐츠는 부정확할 수 있습니다." id="129" name="Google Shape;129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251234" y="1880160"/>
              <a:ext cx="886778" cy="9029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모자, 야외이(가) 표시된 사진&#10;&#10;AI가 생성한 콘텐츠는 부정확할 수 있습니다." id="130" name="Google Shape;130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182302" y="2811717"/>
              <a:ext cx="886778" cy="9029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하늘, 일렉트릭 블루, 하늘빛, 블루이(가) 표시된 사진&#10;&#10;AI가 생성한 콘텐츠는 부정확할 수 있습니다." id="131" name="Google Shape;131;p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182302" y="1876279"/>
              <a:ext cx="886778" cy="9029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하늘, 하늘빛, 일렉트릭 블루, 블루이(가) 표시된 사진&#10;&#10;AI가 생성한 콘텐츠는 부정확할 수 있습니다." id="132" name="Google Shape;132;p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312105" y="2820270"/>
              <a:ext cx="902901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만화 영화, 사람, 야외, 바퀴이(가) 표시된 사진&#10;&#10;AI가 생성한 콘텐츠는 부정확할 수 있습니다." id="133" name="Google Shape;133;p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251234" y="3744257"/>
              <a:ext cx="886778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텍스트, 바퀴이(가) 표시된 사진&#10;&#10;AI가 생성한 콘텐츠는 부정확할 수 있습니다." id="134" name="Google Shape;134;p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243614" y="2820270"/>
              <a:ext cx="886778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하늘, 일렉트릭 블루, 블루, 자연이(가) 표시된 사진&#10;&#10;AI가 생성한 콘텐츠는 부정확할 수 있습니다." id="135" name="Google Shape;135;p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113370" y="1878784"/>
              <a:ext cx="886778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하늘, 비행, 블루, 비행기이(가) 표시된 사진&#10;&#10;AI가 생성한 콘텐츠는 부정확할 수 있습니다." id="136" name="Google Shape;136;p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304043" y="3744257"/>
              <a:ext cx="902901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사람, 실내이(가) 표시된 사진&#10;&#10;AI가 생성한 콘텐츠는 부정확할 수 있습니다." id="137" name="Google Shape;137;p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186350" y="3744257"/>
              <a:ext cx="886778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사람, 붕대, 액세서리, 잡기이(가) 표시된 사진&#10;&#10;AI가 생성한 콘텐츠는 부정확할 수 있습니다." id="138" name="Google Shape;138;p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3182302" y="4656582"/>
              <a:ext cx="886778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일렉트릭 블루, 하늘빛, 아쿠아, 블러이(가) 표시된 사진&#10;&#10;AI가 생성한 콘텐츠는 부정확할 수 있습니다." id="139" name="Google Shape;139;p4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4113370" y="2815654"/>
              <a:ext cx="886778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블루, 일렉트릭 블루, 하늘빛, 아쿠아이(가) 표시된 사진&#10;&#10;AI가 생성한 콘텐츠는 부정확할 수 있습니다." id="140" name="Google Shape;140;p4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1304043" y="4668244"/>
              <a:ext cx="902901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사람, 피트, 신발, 신발류이(가) 표시된 사진&#10;&#10;AI가 생성한 콘텐츠는 부정확할 수 있습니다." id="141" name="Google Shape;141;p4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2251234" y="4668244"/>
              <a:ext cx="886778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의류, 신발류, 신발, 사람이(가) 표시된 사진&#10;&#10;AI가 생성한 콘텐츠는 부정확할 수 있습니다." id="142" name="Google Shape;142;p4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4113370" y="4651267"/>
              <a:ext cx="886778" cy="8867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" name="Google Shape;143;p4"/>
          <p:cNvGrpSpPr/>
          <p:nvPr/>
        </p:nvGrpSpPr>
        <p:grpSpPr>
          <a:xfrm>
            <a:off x="7369966" y="1864617"/>
            <a:ext cx="3696106" cy="3702068"/>
            <a:chOff x="1456442" y="2005354"/>
            <a:chExt cx="3696106" cy="3702068"/>
          </a:xfrm>
        </p:grpSpPr>
        <p:pic>
          <p:nvPicPr>
            <p:cNvPr descr="하늘, 하늘빛, 일렉트릭 블루, 야외이(가) 표시된 사진&#10;&#10;AI가 생성한 콘텐츠는 부정확할 수 있습니다." id="144" name="Google Shape;144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56442" y="2032560"/>
              <a:ext cx="902901" cy="9029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바퀴, 교통, 야외이(가) 표시된 사진&#10;&#10;AI가 생성한 콘텐츠는 부정확할 수 있습니다." id="145" name="Google Shape;1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03634" y="2032560"/>
              <a:ext cx="886778" cy="9029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모자, 야외이(가) 표시된 사진&#10;&#10;AI가 생성한 콘텐츠는 부정확할 수 있습니다." id="146" name="Google Shape;1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34702" y="2017017"/>
              <a:ext cx="886778" cy="9029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하늘, 일렉트릭 블루, 하늘빛, 블루이(가) 표시된 사진&#10;&#10;AI가 생성한 콘텐츠는 부정확할 수 있습니다." id="147" name="Google Shape;147;p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265770" y="2005354"/>
              <a:ext cx="886778" cy="9029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하늘, 하늘빛, 일렉트릭 블루, 블루이(가) 표시된 사진&#10;&#10;AI가 생성한 콘텐츠는 부정확할 수 있습니다." id="148" name="Google Shape;148;p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464505" y="2972670"/>
              <a:ext cx="902901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만화 영화, 사람, 야외, 바퀴이(가) 표시된 사진&#10;&#10;AI가 생성한 콘텐츠는 부정확할 수 있습니다." id="149" name="Google Shape;149;p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403634" y="2972670"/>
              <a:ext cx="886778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텍스트, 바퀴이(가) 표시된 사진&#10;&#10;AI가 생성한 콘텐츠는 부정확할 수 있습니다." id="150" name="Google Shape;150;p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334702" y="2972670"/>
              <a:ext cx="886778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하늘, 일렉트릭 블루, 블루, 자연이(가) 표시된 사진&#10;&#10;AI가 생성한 콘텐츠는 부정확할 수 있습니다." id="151" name="Google Shape;151;p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265770" y="2953525"/>
              <a:ext cx="886778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하늘, 비행, 블루, 비행기이(가) 표시된 사진&#10;&#10;AI가 생성한 콘텐츠는 부정확할 수 있습니다." id="152" name="Google Shape;152;p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456443" y="3896657"/>
              <a:ext cx="902901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사람, 실내이(가) 표시된 사진&#10;&#10;AI가 생성한 콘텐츠는 부정확할 수 있습니다." id="153" name="Google Shape;153;p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2403634" y="3896657"/>
              <a:ext cx="886778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사람, 붕대, 액세서리, 잡기이(가) 표시된 사진&#10;&#10;AI가 생성한 콘텐츠는 부정확할 수 있습니다." id="154" name="Google Shape;154;p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3334702" y="3896657"/>
              <a:ext cx="886778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일렉트릭 블루, 하늘빛, 아쿠아, 블러이(가) 표시된 사진&#10;&#10;AI가 생성한 콘텐츠는 부정확할 수 있습니다." id="155" name="Google Shape;155;p4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4265770" y="3896657"/>
              <a:ext cx="886778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블루, 일렉트릭 블루, 하늘빛, 아쿠아이(가) 표시된 사진&#10;&#10;AI가 생성한 콘텐츠는 부정확할 수 있습니다." id="156" name="Google Shape;156;p4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1456443" y="4820644"/>
              <a:ext cx="902901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사람, 피트, 신발, 신발류이(가) 표시된 사진&#10;&#10;AI가 생성한 콘텐츠는 부정확할 수 있습니다." id="157" name="Google Shape;157;p4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2403634" y="4820644"/>
              <a:ext cx="886778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의류, 신발류, 신발, 사람이(가) 표시된 사진&#10;&#10;AI가 생성한 콘텐츠는 부정확할 수 있습니다." id="158" name="Google Shape;158;p4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3334702" y="4820644"/>
              <a:ext cx="886778" cy="88677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9" name="Google Shape;159;p4"/>
          <p:cNvSpPr/>
          <p:nvPr/>
        </p:nvSpPr>
        <p:spPr>
          <a:xfrm>
            <a:off x="5463375" y="3337560"/>
            <a:ext cx="1338388" cy="66294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"/>
          <p:cNvSpPr/>
          <p:nvPr/>
        </p:nvSpPr>
        <p:spPr>
          <a:xfrm>
            <a:off x="0" y="6661463"/>
            <a:ext cx="12192000" cy="196537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0" y="0"/>
            <a:ext cx="12192000" cy="196537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5463375" y="6628926"/>
            <a:ext cx="1263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</a:t>
            </a:r>
            <a:r>
              <a:rPr b="1" lang="en-US" sz="10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105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67" name="Google Shape;167;p5"/>
          <p:cNvPicPr preferRelativeResize="0"/>
          <p:nvPr/>
        </p:nvPicPr>
        <p:blipFill rotWithShape="1">
          <a:blip r:embed="rId3">
            <a:alphaModFix/>
          </a:blip>
          <a:srcRect b="0" l="0" r="0" t="7980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5"/>
          <p:cNvSpPr txBox="1"/>
          <p:nvPr>
            <p:ph idx="12" type="sldNum"/>
          </p:nvPr>
        </p:nvSpPr>
        <p:spPr>
          <a:xfrm>
            <a:off x="9824484" y="1"/>
            <a:ext cx="2367516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" name="Google Shape;169;p5"/>
          <p:cNvSpPr txBox="1"/>
          <p:nvPr>
            <p:ph idx="11" type="ftr"/>
          </p:nvPr>
        </p:nvSpPr>
        <p:spPr>
          <a:xfrm>
            <a:off x="0" y="3175"/>
            <a:ext cx="38023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PUZ_07_슬라이드 퍼즐 시스템 기획서</a:t>
            </a:r>
            <a:endParaRPr/>
          </a:p>
        </p:txBody>
      </p:sp>
      <p:sp>
        <p:nvSpPr>
          <p:cNvPr id="170" name="Google Shape;170;p5"/>
          <p:cNvSpPr txBox="1"/>
          <p:nvPr/>
        </p:nvSpPr>
        <p:spPr>
          <a:xfrm>
            <a:off x="157882" y="624365"/>
            <a:ext cx="31576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 슬라이드 퍼즐 기본 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 txBox="1"/>
          <p:nvPr/>
        </p:nvSpPr>
        <p:spPr>
          <a:xfrm>
            <a:off x="524322" y="1113706"/>
            <a:ext cx="111435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클리어 조건</a:t>
            </a:r>
            <a:b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제한 시간 안에 모든 조각을 초기 상태로 만들 시 클리어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095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실패 조건</a:t>
            </a:r>
            <a:b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제한 시간 동안 모든 조각을 맞추지 못 할 시 실패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095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 시스템</a:t>
            </a:r>
            <a:b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해킹 패널위에 검은색 이미지 조각들이 생성</a:t>
            </a:r>
            <a:b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랜덤으로 섞인 이미지가 각 조각들에 표시됨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규격 및 사이즈</a:t>
            </a: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b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완성된 이미지= 35cm X 35cm</a:t>
            </a:r>
            <a:b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highlight>
                  <a:srgbClr val="F4CCCC"/>
                </a:highlight>
                <a:latin typeface="Malgun Gothic"/>
                <a:ea typeface="Malgun Gothic"/>
                <a:cs typeface="Malgun Gothic"/>
                <a:sym typeface="Malgun Gothic"/>
              </a:rPr>
              <a:t>- 3*3 이미지 조각 = 11.5cm X 11.5cm + 이미지 조각 간격 </a:t>
            </a:r>
            <a:r>
              <a:rPr lang="en-US" sz="1200">
                <a:solidFill>
                  <a:schemeClr val="dk1"/>
                </a:solidFill>
                <a:highlight>
                  <a:srgbClr val="F4CCCC"/>
                </a:highlight>
                <a:latin typeface="Malgun Gothic"/>
                <a:ea typeface="Malgun Gothic"/>
                <a:cs typeface="Malgun Gothic"/>
                <a:sym typeface="Malgun Gothic"/>
              </a:rPr>
              <a:t>0.25</a:t>
            </a:r>
            <a:r>
              <a:rPr b="0" i="0" lang="en-US" sz="1200" u="none" cap="none" strike="noStrike">
                <a:solidFill>
                  <a:schemeClr val="dk1"/>
                </a:solidFill>
                <a:highlight>
                  <a:srgbClr val="F4CCCC"/>
                </a:highlight>
                <a:latin typeface="Malgun Gothic"/>
                <a:ea typeface="Malgun Gothic"/>
                <a:cs typeface="Malgun Gothic"/>
                <a:sym typeface="Malgun Gothic"/>
              </a:rPr>
              <a:t>cm</a:t>
            </a:r>
            <a:br>
              <a:rPr b="0" i="0" lang="en-US" sz="1200" u="none" cap="none" strike="noStrike">
                <a:solidFill>
                  <a:schemeClr val="dk1"/>
                </a:solidFill>
                <a:highlight>
                  <a:srgbClr val="F4CCCC"/>
                </a:highlight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highlight>
                  <a:srgbClr val="F4CCCC"/>
                </a:highlight>
                <a:latin typeface="Malgun Gothic"/>
                <a:ea typeface="Malgun Gothic"/>
                <a:cs typeface="Malgun Gothic"/>
                <a:sym typeface="Malgun Gothic"/>
              </a:rPr>
              <a:t>- 4*4 이미지 조각 = 8.6cm X 8.6cm + 이미지 조각 간격 </a:t>
            </a:r>
            <a:r>
              <a:rPr lang="en-US" sz="1200">
                <a:solidFill>
                  <a:schemeClr val="dk1"/>
                </a:solidFill>
                <a:highlight>
                  <a:srgbClr val="F4CCCC"/>
                </a:highlight>
                <a:latin typeface="Malgun Gothic"/>
                <a:ea typeface="Malgun Gothic"/>
                <a:cs typeface="Malgun Gothic"/>
                <a:sym typeface="Malgun Gothic"/>
              </a:rPr>
              <a:t>0.2</a:t>
            </a:r>
            <a:r>
              <a:rPr b="0" i="0" lang="en-US" sz="1200" u="none" cap="none" strike="noStrike">
                <a:solidFill>
                  <a:schemeClr val="dk1"/>
                </a:solidFill>
                <a:highlight>
                  <a:srgbClr val="F4CCCC"/>
                </a:highlight>
                <a:latin typeface="Malgun Gothic"/>
                <a:ea typeface="Malgun Gothic"/>
                <a:cs typeface="Malgun Gothic"/>
                <a:sym typeface="Malgun Gothic"/>
              </a:rPr>
              <a:t>cm</a:t>
            </a:r>
            <a:b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 조각 두께 = 4cm</a:t>
            </a:r>
            <a:endParaRPr/>
          </a:p>
          <a:p>
            <a:pPr indent="-2095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 조각</a:t>
            </a:r>
            <a:b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이미지 조각의 컷팅은 간격을 무시한다.</a:t>
            </a:r>
            <a:b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(간격을 무시하고 모두 붙였을 때, 완성된 이미지로 보여야 한다.)</a:t>
            </a:r>
            <a:b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이미지 조각은 언제나 제일 마지막 조각이 비어있다.</a:t>
            </a:r>
            <a:endParaRPr b="1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72" name="Google Shape;172;p5"/>
          <p:cNvGrpSpPr/>
          <p:nvPr/>
        </p:nvGrpSpPr>
        <p:grpSpPr>
          <a:xfrm>
            <a:off x="8876480" y="450271"/>
            <a:ext cx="2678918" cy="3064610"/>
            <a:chOff x="6840731" y="1804570"/>
            <a:chExt cx="2678918" cy="3064610"/>
          </a:xfrm>
        </p:grpSpPr>
        <p:sp>
          <p:nvSpPr>
            <p:cNvPr id="173" name="Google Shape;173;p5"/>
            <p:cNvSpPr/>
            <p:nvPr/>
          </p:nvSpPr>
          <p:spPr>
            <a:xfrm>
              <a:off x="6840731" y="2187742"/>
              <a:ext cx="850118" cy="85011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7755131" y="2187742"/>
              <a:ext cx="850118" cy="85011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8669531" y="2187742"/>
              <a:ext cx="850118" cy="85011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6840731" y="3103402"/>
              <a:ext cx="850118" cy="85011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7755131" y="3103402"/>
              <a:ext cx="850118" cy="85011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8669531" y="3103402"/>
              <a:ext cx="850118" cy="85011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5"/>
            <p:cNvSpPr/>
            <p:nvPr/>
          </p:nvSpPr>
          <p:spPr>
            <a:xfrm>
              <a:off x="6840731" y="4019062"/>
              <a:ext cx="850118" cy="85011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5"/>
            <p:cNvSpPr/>
            <p:nvPr/>
          </p:nvSpPr>
          <p:spPr>
            <a:xfrm>
              <a:off x="7755131" y="4019062"/>
              <a:ext cx="850118" cy="85011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5"/>
            <p:cNvSpPr/>
            <p:nvPr/>
          </p:nvSpPr>
          <p:spPr>
            <a:xfrm>
              <a:off x="8669531" y="4019062"/>
              <a:ext cx="850118" cy="85011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5"/>
            <p:cNvSpPr txBox="1"/>
            <p:nvPr/>
          </p:nvSpPr>
          <p:spPr>
            <a:xfrm>
              <a:off x="6949440" y="1804571"/>
              <a:ext cx="62228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r>
                <a:rPr lang="en-US"/>
                <a:t>.5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5"/>
            <p:cNvSpPr txBox="1"/>
            <p:nvPr/>
          </p:nvSpPr>
          <p:spPr>
            <a:xfrm>
              <a:off x="7474605" y="1919924"/>
              <a:ext cx="5046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/>
                <a:t>0.25</a:t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5"/>
            <p:cNvSpPr txBox="1"/>
            <p:nvPr/>
          </p:nvSpPr>
          <p:spPr>
            <a:xfrm>
              <a:off x="7869047" y="1804570"/>
              <a:ext cx="622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r>
                <a:rPr lang="en-US"/>
                <a:t>.5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" name="Google Shape;185;p5"/>
          <p:cNvGrpSpPr/>
          <p:nvPr/>
        </p:nvGrpSpPr>
        <p:grpSpPr>
          <a:xfrm>
            <a:off x="5599605" y="3034142"/>
            <a:ext cx="3033098" cy="3348419"/>
            <a:chOff x="5599605" y="3034142"/>
            <a:chExt cx="3033098" cy="3348419"/>
          </a:xfrm>
        </p:grpSpPr>
        <p:sp>
          <p:nvSpPr>
            <p:cNvPr id="186" name="Google Shape;186;p5"/>
            <p:cNvSpPr/>
            <p:nvPr/>
          </p:nvSpPr>
          <p:spPr>
            <a:xfrm>
              <a:off x="5599605" y="3356487"/>
              <a:ext cx="715165" cy="7151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5"/>
            <p:cNvSpPr/>
            <p:nvPr/>
          </p:nvSpPr>
          <p:spPr>
            <a:xfrm>
              <a:off x="6368848" y="3356487"/>
              <a:ext cx="715165" cy="7151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7138091" y="3356487"/>
              <a:ext cx="715165" cy="7151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5599605" y="4126790"/>
              <a:ext cx="715165" cy="7151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5"/>
            <p:cNvSpPr/>
            <p:nvPr/>
          </p:nvSpPr>
          <p:spPr>
            <a:xfrm>
              <a:off x="6368848" y="4126790"/>
              <a:ext cx="715165" cy="7151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7138091" y="4126790"/>
              <a:ext cx="715165" cy="7151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5599605" y="4897093"/>
              <a:ext cx="715165" cy="7151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5"/>
            <p:cNvSpPr/>
            <p:nvPr/>
          </p:nvSpPr>
          <p:spPr>
            <a:xfrm>
              <a:off x="6368848" y="4897093"/>
              <a:ext cx="715165" cy="7151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7138091" y="4897093"/>
              <a:ext cx="715165" cy="7151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5"/>
            <p:cNvSpPr txBox="1"/>
            <p:nvPr/>
          </p:nvSpPr>
          <p:spPr>
            <a:xfrm>
              <a:off x="5691057" y="3034143"/>
              <a:ext cx="5229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8.6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5"/>
            <p:cNvSpPr txBox="1"/>
            <p:nvPr/>
          </p:nvSpPr>
          <p:spPr>
            <a:xfrm>
              <a:off x="6089802" y="3090475"/>
              <a:ext cx="4869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0.2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5"/>
            <p:cNvSpPr txBox="1"/>
            <p:nvPr/>
          </p:nvSpPr>
          <p:spPr>
            <a:xfrm>
              <a:off x="6495505" y="3034142"/>
              <a:ext cx="5229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r>
                <a:rPr lang="en-US"/>
                <a:t>.6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5"/>
            <p:cNvSpPr/>
            <p:nvPr/>
          </p:nvSpPr>
          <p:spPr>
            <a:xfrm>
              <a:off x="5599605" y="5667396"/>
              <a:ext cx="715165" cy="7151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5"/>
            <p:cNvSpPr/>
            <p:nvPr/>
          </p:nvSpPr>
          <p:spPr>
            <a:xfrm>
              <a:off x="6368848" y="5667396"/>
              <a:ext cx="715165" cy="7151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5"/>
            <p:cNvSpPr/>
            <p:nvPr/>
          </p:nvSpPr>
          <p:spPr>
            <a:xfrm>
              <a:off x="7138091" y="5667396"/>
              <a:ext cx="715165" cy="7151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5"/>
            <p:cNvSpPr/>
            <p:nvPr/>
          </p:nvSpPr>
          <p:spPr>
            <a:xfrm>
              <a:off x="7917538" y="3355059"/>
              <a:ext cx="715165" cy="7151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5"/>
            <p:cNvSpPr/>
            <p:nvPr/>
          </p:nvSpPr>
          <p:spPr>
            <a:xfrm>
              <a:off x="7917538" y="4125362"/>
              <a:ext cx="715165" cy="7151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5"/>
            <p:cNvSpPr/>
            <p:nvPr/>
          </p:nvSpPr>
          <p:spPr>
            <a:xfrm>
              <a:off x="7917538" y="4895665"/>
              <a:ext cx="715165" cy="7151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5"/>
            <p:cNvSpPr/>
            <p:nvPr/>
          </p:nvSpPr>
          <p:spPr>
            <a:xfrm>
              <a:off x="7917538" y="5665968"/>
              <a:ext cx="715165" cy="7151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/>
          <p:nvPr/>
        </p:nvSpPr>
        <p:spPr>
          <a:xfrm>
            <a:off x="0" y="6661463"/>
            <a:ext cx="12192000" cy="196537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0" name="Google Shape;210;p33"/>
          <p:cNvSpPr/>
          <p:nvPr/>
        </p:nvSpPr>
        <p:spPr>
          <a:xfrm>
            <a:off x="0" y="0"/>
            <a:ext cx="12192000" cy="196537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1" name="Google Shape;211;p33"/>
          <p:cNvSpPr txBox="1"/>
          <p:nvPr/>
        </p:nvSpPr>
        <p:spPr>
          <a:xfrm>
            <a:off x="5463375" y="6628926"/>
            <a:ext cx="1263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</a:t>
            </a:r>
            <a:r>
              <a:rPr b="1" lang="en-US" sz="10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105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12" name="Google Shape;212;p33"/>
          <p:cNvPicPr preferRelativeResize="0"/>
          <p:nvPr/>
        </p:nvPicPr>
        <p:blipFill rotWithShape="1">
          <a:blip r:embed="rId3">
            <a:alphaModFix/>
          </a:blip>
          <a:srcRect b="0" l="0" r="0" t="7980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3"/>
          <p:cNvSpPr txBox="1"/>
          <p:nvPr/>
        </p:nvSpPr>
        <p:spPr>
          <a:xfrm>
            <a:off x="157882" y="624365"/>
            <a:ext cx="31576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 인터랙션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33"/>
          <p:cNvSpPr txBox="1"/>
          <p:nvPr>
            <p:ph idx="12" type="sldNum"/>
          </p:nvPr>
        </p:nvSpPr>
        <p:spPr>
          <a:xfrm>
            <a:off x="9824484" y="1"/>
            <a:ext cx="2367516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5" name="Google Shape;215;p33"/>
          <p:cNvSpPr txBox="1"/>
          <p:nvPr>
            <p:ph idx="11" type="ftr"/>
          </p:nvPr>
        </p:nvSpPr>
        <p:spPr>
          <a:xfrm>
            <a:off x="0" y="3175"/>
            <a:ext cx="40269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PUZ_07_슬라이드 퍼즐 시스템 기획서</a:t>
            </a:r>
            <a:endParaRPr/>
          </a:p>
        </p:txBody>
      </p:sp>
      <p:sp>
        <p:nvSpPr>
          <p:cNvPr id="216" name="Google Shape;216;p33"/>
          <p:cNvSpPr txBox="1"/>
          <p:nvPr/>
        </p:nvSpPr>
        <p:spPr>
          <a:xfrm>
            <a:off x="524321" y="1113706"/>
            <a:ext cx="7476600" cy="2308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사방에 비어있는 칸이 존재하는 경우에만 인터랙션이 가능하다.</a:t>
            </a:r>
            <a:endParaRPr/>
          </a:p>
          <a:p>
            <a:pPr indent="-952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손을 조각 근처에 </a:t>
            </a: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호버하였을 때</a:t>
            </a: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인터랙션 가능한 경우, 선택된 조각의 </a:t>
            </a: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모서리</a:t>
            </a: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 Emissive가 켜진다.</a:t>
            </a:r>
            <a:b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Emissive Color는 </a:t>
            </a: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#FF5C41</a:t>
            </a: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으로 한다.</a:t>
            </a:r>
            <a:b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때 S_PieceHover_SFX를 재생한다.</a:t>
            </a:r>
            <a:endParaRPr/>
          </a:p>
          <a:p>
            <a:pPr indent="-952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조각을 </a:t>
            </a: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터치하면</a:t>
            </a: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비어있는 칸으로 해당 조각이 이동하며, Emissive가 꺼진다.</a:t>
            </a:r>
            <a:endParaRPr/>
          </a:p>
          <a:p>
            <a:pPr indent="-952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양손으로 동시에 두 조각을 누른 경우, 먼저 </a:t>
            </a: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눌린</a:t>
            </a: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조각 하나만 이동되며, 두번째 </a:t>
            </a: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인터랙션은</a:t>
            </a: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무시된다.</a:t>
            </a:r>
            <a:endParaRPr/>
          </a:p>
          <a:p>
            <a:pPr indent="-952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퍼즐이 완성 판정이 되면 즉시 모든 인터랙션이 불가능해진다.</a:t>
            </a:r>
            <a:endParaRPr b="1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952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7" name="Google Shape;217;p33"/>
          <p:cNvSpPr txBox="1"/>
          <p:nvPr/>
        </p:nvSpPr>
        <p:spPr>
          <a:xfrm>
            <a:off x="162406" y="3594101"/>
            <a:ext cx="315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 이동 연출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8" name="Google Shape;218;p33"/>
          <p:cNvGrpSpPr/>
          <p:nvPr/>
        </p:nvGrpSpPr>
        <p:grpSpPr>
          <a:xfrm>
            <a:off x="8507700" y="2424496"/>
            <a:ext cx="3033098" cy="3144756"/>
            <a:chOff x="7329345" y="2059704"/>
            <a:chExt cx="3033098" cy="3144756"/>
          </a:xfrm>
        </p:grpSpPr>
        <p:sp>
          <p:nvSpPr>
            <p:cNvPr id="219" name="Google Shape;219;p33"/>
            <p:cNvSpPr/>
            <p:nvPr/>
          </p:nvSpPr>
          <p:spPr>
            <a:xfrm>
              <a:off x="8867830" y="4372041"/>
              <a:ext cx="715165" cy="715165"/>
            </a:xfrm>
            <a:prstGeom prst="rect">
              <a:avLst/>
            </a:prstGeom>
            <a:solidFill>
              <a:schemeClr val="accent1">
                <a:alpha val="49803"/>
              </a:schemeClr>
            </a:solidFill>
            <a:ln cap="flat" cmpd="sng" w="25400">
              <a:solidFill>
                <a:srgbClr val="FFFF00">
                  <a:alpha val="600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0" name="Google Shape;220;p33"/>
            <p:cNvGrpSpPr/>
            <p:nvPr/>
          </p:nvGrpSpPr>
          <p:grpSpPr>
            <a:xfrm>
              <a:off x="7329345" y="2059704"/>
              <a:ext cx="3033098" cy="3027502"/>
              <a:chOff x="5599605" y="3355059"/>
              <a:chExt cx="3033098" cy="3027502"/>
            </a:xfrm>
          </p:grpSpPr>
          <p:sp>
            <p:nvSpPr>
              <p:cNvPr id="221" name="Google Shape;221;p33"/>
              <p:cNvSpPr/>
              <p:nvPr/>
            </p:nvSpPr>
            <p:spPr>
              <a:xfrm>
                <a:off x="5599605" y="3356487"/>
                <a:ext cx="715200" cy="7152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33"/>
              <p:cNvSpPr/>
              <p:nvPr/>
            </p:nvSpPr>
            <p:spPr>
              <a:xfrm>
                <a:off x="6368848" y="3356487"/>
                <a:ext cx="715165" cy="71516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33"/>
              <p:cNvSpPr/>
              <p:nvPr/>
            </p:nvSpPr>
            <p:spPr>
              <a:xfrm>
                <a:off x="7138091" y="3356487"/>
                <a:ext cx="715165" cy="71516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33"/>
              <p:cNvSpPr/>
              <p:nvPr/>
            </p:nvSpPr>
            <p:spPr>
              <a:xfrm>
                <a:off x="5599605" y="4126790"/>
                <a:ext cx="715165" cy="71516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33"/>
              <p:cNvSpPr/>
              <p:nvPr/>
            </p:nvSpPr>
            <p:spPr>
              <a:xfrm>
                <a:off x="6368848" y="4126790"/>
                <a:ext cx="715165" cy="71516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33"/>
              <p:cNvSpPr/>
              <p:nvPr/>
            </p:nvSpPr>
            <p:spPr>
              <a:xfrm>
                <a:off x="7138091" y="4126790"/>
                <a:ext cx="715165" cy="71516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6</a:t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33"/>
              <p:cNvSpPr/>
              <p:nvPr/>
            </p:nvSpPr>
            <p:spPr>
              <a:xfrm>
                <a:off x="5599605" y="4897093"/>
                <a:ext cx="715165" cy="71516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8</a:t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33"/>
              <p:cNvSpPr/>
              <p:nvPr/>
            </p:nvSpPr>
            <p:spPr>
              <a:xfrm>
                <a:off x="6368848" y="4897093"/>
                <a:ext cx="715165" cy="71516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9</a:t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33"/>
              <p:cNvSpPr/>
              <p:nvPr/>
            </p:nvSpPr>
            <p:spPr>
              <a:xfrm>
                <a:off x="7138091" y="4897093"/>
                <a:ext cx="715165" cy="71516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33"/>
              <p:cNvSpPr/>
              <p:nvPr/>
            </p:nvSpPr>
            <p:spPr>
              <a:xfrm>
                <a:off x="5599605" y="5667396"/>
                <a:ext cx="715165" cy="71516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12</a:t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33"/>
              <p:cNvSpPr/>
              <p:nvPr/>
            </p:nvSpPr>
            <p:spPr>
              <a:xfrm>
                <a:off x="6368848" y="5667396"/>
                <a:ext cx="715165" cy="71516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13</a:t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33"/>
              <p:cNvSpPr/>
              <p:nvPr/>
            </p:nvSpPr>
            <p:spPr>
              <a:xfrm>
                <a:off x="7917538" y="5667396"/>
                <a:ext cx="715165" cy="71516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14</a:t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33"/>
              <p:cNvSpPr/>
              <p:nvPr/>
            </p:nvSpPr>
            <p:spPr>
              <a:xfrm>
                <a:off x="7917538" y="3355059"/>
                <a:ext cx="715165" cy="71516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33"/>
              <p:cNvSpPr/>
              <p:nvPr/>
            </p:nvSpPr>
            <p:spPr>
              <a:xfrm>
                <a:off x="7917538" y="4125362"/>
                <a:ext cx="715165" cy="71516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7</a:t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33"/>
              <p:cNvSpPr/>
              <p:nvPr/>
            </p:nvSpPr>
            <p:spPr>
              <a:xfrm>
                <a:off x="7917538" y="4895665"/>
                <a:ext cx="715165" cy="71516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11</a:t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36" name="Google Shape;236;p33"/>
            <p:cNvCxnSpPr/>
            <p:nvPr/>
          </p:nvCxnSpPr>
          <p:spPr>
            <a:xfrm rot="10800000">
              <a:off x="8254420" y="5204460"/>
              <a:ext cx="1226820" cy="0"/>
            </a:xfrm>
            <a:prstGeom prst="straightConnector1">
              <a:avLst/>
            </a:prstGeom>
            <a:noFill/>
            <a:ln cap="flat" cmpd="sng" w="9525">
              <a:solidFill>
                <a:srgbClr val="3E6EC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37" name="Google Shape;237;p33"/>
          <p:cNvSpPr txBox="1"/>
          <p:nvPr/>
        </p:nvSpPr>
        <p:spPr>
          <a:xfrm>
            <a:off x="524322" y="4183861"/>
            <a:ext cx="6585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조각을 </a:t>
            </a: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터치</a:t>
            </a: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하면 0.25초동안 미끄러져 빈 칸으로 이동된다.</a:t>
            </a:r>
            <a:endParaRPr/>
          </a:p>
          <a:p>
            <a:pPr indent="-952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조각이 이동하는 동안에는 모든 칸의 인터랙션이 불가하다.</a:t>
            </a:r>
            <a:b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•"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조각이 이동될 때, S_PieceMove_SFX를 재생한다.</a:t>
            </a:r>
            <a:b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38" name="Google Shape;23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694" y="624375"/>
            <a:ext cx="1631100" cy="164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"/>
          <p:cNvSpPr/>
          <p:nvPr/>
        </p:nvSpPr>
        <p:spPr>
          <a:xfrm>
            <a:off x="0" y="6661463"/>
            <a:ext cx="12192000" cy="196537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4" name="Google Shape;244;p14"/>
          <p:cNvSpPr/>
          <p:nvPr/>
        </p:nvSpPr>
        <p:spPr>
          <a:xfrm>
            <a:off x="0" y="0"/>
            <a:ext cx="12192000" cy="196537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5" name="Google Shape;245;p14"/>
          <p:cNvSpPr txBox="1"/>
          <p:nvPr/>
        </p:nvSpPr>
        <p:spPr>
          <a:xfrm>
            <a:off x="5463375" y="6628926"/>
            <a:ext cx="126305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Ver.1.0.0</a:t>
            </a:r>
            <a:endParaRPr b="1" i="0" sz="105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46" name="Google Shape;246;p14"/>
          <p:cNvPicPr preferRelativeResize="0"/>
          <p:nvPr/>
        </p:nvPicPr>
        <p:blipFill rotWithShape="1">
          <a:blip r:embed="rId3">
            <a:alphaModFix/>
          </a:blip>
          <a:srcRect b="0" l="0" r="0" t="7980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4"/>
          <p:cNvSpPr txBox="1"/>
          <p:nvPr>
            <p:ph idx="12" type="sldNum"/>
          </p:nvPr>
        </p:nvSpPr>
        <p:spPr>
          <a:xfrm>
            <a:off x="9824484" y="1"/>
            <a:ext cx="2367516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8" name="Google Shape;248;p14"/>
          <p:cNvSpPr txBox="1"/>
          <p:nvPr>
            <p:ph idx="11" type="ftr"/>
          </p:nvPr>
        </p:nvSpPr>
        <p:spPr>
          <a:xfrm>
            <a:off x="0" y="3175"/>
            <a:ext cx="40081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PUZ_07_슬라이드 퍼즐 시스템 기획서</a:t>
            </a:r>
            <a:endParaRPr/>
          </a:p>
        </p:txBody>
      </p:sp>
      <p:sp>
        <p:nvSpPr>
          <p:cNvPr id="249" name="Google Shape;249;p14"/>
          <p:cNvSpPr txBox="1"/>
          <p:nvPr/>
        </p:nvSpPr>
        <p:spPr>
          <a:xfrm>
            <a:off x="157882" y="624365"/>
            <a:ext cx="31576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 조작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4"/>
          <p:cNvSpPr txBox="1"/>
          <p:nvPr/>
        </p:nvSpPr>
        <p:spPr>
          <a:xfrm>
            <a:off x="524322" y="1113706"/>
            <a:ext cx="1114335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해킹 패널위로 손이 올라가면 손의 형태가 바뀌고 조각을 누를 수 있는 상태로 전환된다.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" name="Google Shape;25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038" y="2307875"/>
            <a:ext cx="6253095" cy="3334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92660" y="2307874"/>
            <a:ext cx="5162301" cy="333517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4"/>
          <p:cNvSpPr/>
          <p:nvPr/>
        </p:nvSpPr>
        <p:spPr>
          <a:xfrm>
            <a:off x="1474085" y="3975367"/>
            <a:ext cx="3979002" cy="1575691"/>
          </a:xfrm>
          <a:prstGeom prst="rect">
            <a:avLst/>
          </a:prstGeom>
          <a:solidFill>
            <a:srgbClr val="FF0000">
              <a:alpha val="29411"/>
            </a:srgbClr>
          </a:solidFill>
          <a:ln cap="flat" cmpd="sng" w="2857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7605846" y="3970161"/>
            <a:ext cx="3223966" cy="1580897"/>
          </a:xfrm>
          <a:prstGeom prst="rect">
            <a:avLst/>
          </a:prstGeom>
          <a:solidFill>
            <a:srgbClr val="FF0000">
              <a:alpha val="29411"/>
            </a:srgbClr>
          </a:solidFill>
          <a:ln cap="flat" cmpd="sng" w="2857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블랙, 어둠이(가) 표시된 사진&#10;&#10;AI가 생성한 콘텐츠는 부정확할 수 있습니다." id="255" name="Google Shape;255;p14"/>
          <p:cNvPicPr preferRelativeResize="0"/>
          <p:nvPr/>
        </p:nvPicPr>
        <p:blipFill rotWithShape="1">
          <a:blip r:embed="rId6">
            <a:alphaModFix/>
          </a:blip>
          <a:srcRect b="10684" l="18087" r="18087" t="10686"/>
          <a:stretch/>
        </p:blipFill>
        <p:spPr>
          <a:xfrm rot="-7517606">
            <a:off x="4055459" y="2375867"/>
            <a:ext cx="1112168" cy="13700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블랙, 어둠이(가) 표시된 사진&#10;&#10;AI가 생성한 콘텐츠는 부정확할 수 있습니다." id="256" name="Google Shape;256;p14"/>
          <p:cNvPicPr preferRelativeResize="0"/>
          <p:nvPr/>
        </p:nvPicPr>
        <p:blipFill rotWithShape="1">
          <a:blip r:embed="rId7">
            <a:alphaModFix/>
          </a:blip>
          <a:srcRect b="11161" l="18065" r="18063" t="11162"/>
          <a:stretch/>
        </p:blipFill>
        <p:spPr>
          <a:xfrm flipH="1" rot="-7610599">
            <a:off x="8822479" y="3393203"/>
            <a:ext cx="1112168" cy="1352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5"/>
          <p:cNvSpPr/>
          <p:nvPr/>
        </p:nvSpPr>
        <p:spPr>
          <a:xfrm>
            <a:off x="0" y="6661463"/>
            <a:ext cx="12192000" cy="196537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2" name="Google Shape;262;p15"/>
          <p:cNvSpPr/>
          <p:nvPr/>
        </p:nvSpPr>
        <p:spPr>
          <a:xfrm>
            <a:off x="0" y="0"/>
            <a:ext cx="12192000" cy="196537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3" name="Google Shape;263;p15"/>
          <p:cNvSpPr txBox="1"/>
          <p:nvPr/>
        </p:nvSpPr>
        <p:spPr>
          <a:xfrm>
            <a:off x="5463375" y="6628926"/>
            <a:ext cx="126305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Ver.1.0.0</a:t>
            </a:r>
            <a:endParaRPr b="1" i="0" sz="105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64" name="Google Shape;264;p15"/>
          <p:cNvPicPr preferRelativeResize="0"/>
          <p:nvPr/>
        </p:nvPicPr>
        <p:blipFill rotWithShape="1">
          <a:blip r:embed="rId3">
            <a:alphaModFix/>
          </a:blip>
          <a:srcRect b="0" l="0" r="0" t="7980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5"/>
          <p:cNvSpPr txBox="1"/>
          <p:nvPr>
            <p:ph idx="12" type="sldNum"/>
          </p:nvPr>
        </p:nvSpPr>
        <p:spPr>
          <a:xfrm>
            <a:off x="9824484" y="1"/>
            <a:ext cx="2367516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6" name="Google Shape;266;p15"/>
          <p:cNvSpPr txBox="1"/>
          <p:nvPr>
            <p:ph idx="11" type="ftr"/>
          </p:nvPr>
        </p:nvSpPr>
        <p:spPr>
          <a:xfrm>
            <a:off x="0" y="3175"/>
            <a:ext cx="38404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PUZ_07_슬라이드 퍼즐 시스템 기획서</a:t>
            </a:r>
            <a:endParaRPr/>
          </a:p>
        </p:txBody>
      </p:sp>
      <p:sp>
        <p:nvSpPr>
          <p:cNvPr id="267" name="Google Shape;267;p15"/>
          <p:cNvSpPr txBox="1"/>
          <p:nvPr/>
        </p:nvSpPr>
        <p:spPr>
          <a:xfrm>
            <a:off x="157882" y="624365"/>
            <a:ext cx="31576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 조작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5"/>
          <p:cNvSpPr txBox="1"/>
          <p:nvPr/>
        </p:nvSpPr>
        <p:spPr>
          <a:xfrm>
            <a:off x="524322" y="1113706"/>
            <a:ext cx="1114335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핸드 포인트 변경 콜리전 영역 50*20*40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5"/>
          <p:cNvSpPr/>
          <p:nvPr/>
        </p:nvSpPr>
        <p:spPr>
          <a:xfrm>
            <a:off x="2009019" y="2672448"/>
            <a:ext cx="2963334" cy="1684866"/>
          </a:xfrm>
          <a:prstGeom prst="cube">
            <a:avLst>
              <a:gd fmla="val 60570" name="adj"/>
            </a:avLst>
          </a:prstGeom>
          <a:solidFill>
            <a:srgbClr val="FF0000">
              <a:alpha val="29411"/>
            </a:srgbClr>
          </a:solidFill>
          <a:ln cap="flat" cmpd="sng" w="1905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70" name="Google Shape;270;p15"/>
          <p:cNvCxnSpPr/>
          <p:nvPr/>
        </p:nvCxnSpPr>
        <p:spPr>
          <a:xfrm>
            <a:off x="1998133" y="4521200"/>
            <a:ext cx="1930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271" name="Google Shape;271;p15"/>
          <p:cNvCxnSpPr/>
          <p:nvPr/>
        </p:nvCxnSpPr>
        <p:spPr>
          <a:xfrm flipH="1" rot="10800000">
            <a:off x="4041020" y="3403600"/>
            <a:ext cx="1038980" cy="1117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272" name="Google Shape;272;p15"/>
          <p:cNvCxnSpPr/>
          <p:nvPr/>
        </p:nvCxnSpPr>
        <p:spPr>
          <a:xfrm rot="10800000">
            <a:off x="1833639" y="3666067"/>
            <a:ext cx="0" cy="766417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273" name="Google Shape;273;p15"/>
          <p:cNvSpPr txBox="1"/>
          <p:nvPr/>
        </p:nvSpPr>
        <p:spPr>
          <a:xfrm>
            <a:off x="2523068" y="4685087"/>
            <a:ext cx="71966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40cm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4" name="Google Shape;274;p15"/>
          <p:cNvSpPr txBox="1"/>
          <p:nvPr/>
        </p:nvSpPr>
        <p:spPr>
          <a:xfrm>
            <a:off x="4666344" y="3978038"/>
            <a:ext cx="71966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50cm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5" name="Google Shape;275;p15"/>
          <p:cNvSpPr txBox="1"/>
          <p:nvPr/>
        </p:nvSpPr>
        <p:spPr>
          <a:xfrm>
            <a:off x="1017209" y="3910775"/>
            <a:ext cx="71966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20cm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76" name="Google Shape;27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17517" y="2217076"/>
            <a:ext cx="4096831" cy="2595609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5"/>
          <p:cNvSpPr/>
          <p:nvPr/>
        </p:nvSpPr>
        <p:spPr>
          <a:xfrm>
            <a:off x="6982757" y="2277533"/>
            <a:ext cx="3784600" cy="2328334"/>
          </a:xfrm>
          <a:custGeom>
            <a:rect b="b" l="l" r="r" t="t"/>
            <a:pathLst>
              <a:path extrusionOk="0" h="2328334" w="3784600">
                <a:moveTo>
                  <a:pt x="0" y="1989667"/>
                </a:moveTo>
                <a:lnTo>
                  <a:pt x="0" y="1024467"/>
                </a:lnTo>
                <a:lnTo>
                  <a:pt x="1811867" y="0"/>
                </a:lnTo>
                <a:lnTo>
                  <a:pt x="3784600" y="279400"/>
                </a:lnTo>
                <a:lnTo>
                  <a:pt x="3767667" y="1159934"/>
                </a:lnTo>
                <a:lnTo>
                  <a:pt x="1828800" y="2328334"/>
                </a:lnTo>
                <a:lnTo>
                  <a:pt x="0" y="1989667"/>
                </a:lnTo>
                <a:close/>
              </a:path>
            </a:pathLst>
          </a:custGeom>
          <a:solidFill>
            <a:srgbClr val="FF0000">
              <a:alpha val="29411"/>
            </a:srgbClr>
          </a:solidFill>
          <a:ln cap="flat" cmpd="sng" w="1905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78" name="Google Shape;278;p15"/>
          <p:cNvCxnSpPr>
            <a:stCxn id="277" idx="1"/>
          </p:cNvCxnSpPr>
          <p:nvPr/>
        </p:nvCxnSpPr>
        <p:spPr>
          <a:xfrm>
            <a:off x="6982757" y="3302000"/>
            <a:ext cx="1828800" cy="279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279" name="Google Shape;279;p15"/>
          <p:cNvCxnSpPr>
            <a:endCxn id="277" idx="5"/>
          </p:cNvCxnSpPr>
          <p:nvPr/>
        </p:nvCxnSpPr>
        <p:spPr>
          <a:xfrm>
            <a:off x="8811557" y="3581400"/>
            <a:ext cx="0" cy="1024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280" name="Google Shape;280;p15"/>
          <p:cNvCxnSpPr>
            <a:endCxn id="277" idx="3"/>
          </p:cNvCxnSpPr>
          <p:nvPr/>
        </p:nvCxnSpPr>
        <p:spPr>
          <a:xfrm flipH="1" rot="10800000">
            <a:off x="8811557" y="2556900"/>
            <a:ext cx="1955700" cy="1024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4"/>
          <p:cNvSpPr/>
          <p:nvPr/>
        </p:nvSpPr>
        <p:spPr>
          <a:xfrm>
            <a:off x="0" y="6661463"/>
            <a:ext cx="12192000" cy="196537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6" name="Google Shape;286;p34"/>
          <p:cNvSpPr/>
          <p:nvPr/>
        </p:nvSpPr>
        <p:spPr>
          <a:xfrm>
            <a:off x="0" y="0"/>
            <a:ext cx="12192000" cy="196537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7" name="Google Shape;287;p34"/>
          <p:cNvSpPr txBox="1"/>
          <p:nvPr/>
        </p:nvSpPr>
        <p:spPr>
          <a:xfrm>
            <a:off x="5463375" y="6628926"/>
            <a:ext cx="126305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Ver.1.0.0</a:t>
            </a:r>
            <a:endParaRPr b="1" i="0" sz="105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88" name="Google Shape;288;p34"/>
          <p:cNvPicPr preferRelativeResize="0"/>
          <p:nvPr/>
        </p:nvPicPr>
        <p:blipFill rotWithShape="1">
          <a:blip r:embed="rId3">
            <a:alphaModFix/>
          </a:blip>
          <a:srcRect b="0" l="0" r="0" t="7980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4"/>
          <p:cNvSpPr txBox="1"/>
          <p:nvPr>
            <p:ph idx="12" type="sldNum"/>
          </p:nvPr>
        </p:nvSpPr>
        <p:spPr>
          <a:xfrm>
            <a:off x="9824484" y="1"/>
            <a:ext cx="2367516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0" name="Google Shape;290;p34"/>
          <p:cNvSpPr txBox="1"/>
          <p:nvPr>
            <p:ph idx="11" type="ftr"/>
          </p:nvPr>
        </p:nvSpPr>
        <p:spPr>
          <a:xfrm>
            <a:off x="0" y="3175"/>
            <a:ext cx="38404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PUZ_07_슬라이드 퍼즐 시스템 기획서</a:t>
            </a:r>
            <a:endParaRPr/>
          </a:p>
        </p:txBody>
      </p:sp>
      <p:sp>
        <p:nvSpPr>
          <p:cNvPr id="291" name="Google Shape;291;p34"/>
          <p:cNvSpPr txBox="1"/>
          <p:nvPr/>
        </p:nvSpPr>
        <p:spPr>
          <a:xfrm>
            <a:off x="157882" y="624365"/>
            <a:ext cx="31576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 조작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34"/>
          <p:cNvSpPr txBox="1"/>
          <p:nvPr/>
        </p:nvSpPr>
        <p:spPr>
          <a:xfrm>
            <a:off x="524322" y="1113706"/>
            <a:ext cx="11143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 조각 인터랙션 영역 (가로, 세로는 이미지 조각과 동일하게 유지, 높이는 조각 높이는 7cm로 한다.)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4"/>
          <p:cNvSpPr/>
          <p:nvPr/>
        </p:nvSpPr>
        <p:spPr>
          <a:xfrm>
            <a:off x="4221187" y="2644586"/>
            <a:ext cx="1452580" cy="784757"/>
          </a:xfrm>
          <a:prstGeom prst="cube">
            <a:avLst>
              <a:gd fmla="val 60156" name="adj"/>
            </a:avLst>
          </a:prstGeom>
          <a:solidFill>
            <a:srgbClr val="B3C6E7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4" name="Google Shape;294;p34"/>
          <p:cNvSpPr/>
          <p:nvPr/>
        </p:nvSpPr>
        <p:spPr>
          <a:xfrm>
            <a:off x="5299853" y="2644586"/>
            <a:ext cx="1452580" cy="784757"/>
          </a:xfrm>
          <a:prstGeom prst="cube">
            <a:avLst>
              <a:gd fmla="val 60156" name="adj"/>
            </a:avLst>
          </a:prstGeom>
          <a:solidFill>
            <a:srgbClr val="B3C6E7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5" name="Google Shape;295;p34"/>
          <p:cNvSpPr/>
          <p:nvPr/>
        </p:nvSpPr>
        <p:spPr>
          <a:xfrm>
            <a:off x="6382017" y="2644586"/>
            <a:ext cx="1452580" cy="784757"/>
          </a:xfrm>
          <a:prstGeom prst="cube">
            <a:avLst>
              <a:gd fmla="val 60156" name="adj"/>
            </a:avLst>
          </a:prstGeom>
          <a:solidFill>
            <a:srgbClr val="B3C6E7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6" name="Google Shape;296;p34"/>
          <p:cNvSpPr/>
          <p:nvPr/>
        </p:nvSpPr>
        <p:spPr>
          <a:xfrm>
            <a:off x="7454083" y="2644586"/>
            <a:ext cx="1452580" cy="784757"/>
          </a:xfrm>
          <a:prstGeom prst="cube">
            <a:avLst>
              <a:gd fmla="val 60156" name="adj"/>
            </a:avLst>
          </a:prstGeom>
          <a:solidFill>
            <a:srgbClr val="B3C6E7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7" name="Google Shape;297;p34"/>
          <p:cNvSpPr/>
          <p:nvPr/>
        </p:nvSpPr>
        <p:spPr>
          <a:xfrm>
            <a:off x="3719318" y="3161404"/>
            <a:ext cx="1452580" cy="784757"/>
          </a:xfrm>
          <a:prstGeom prst="cube">
            <a:avLst>
              <a:gd fmla="val 60156" name="adj"/>
            </a:avLst>
          </a:prstGeom>
          <a:solidFill>
            <a:srgbClr val="B3C6E7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8" name="Google Shape;298;p34"/>
          <p:cNvSpPr/>
          <p:nvPr/>
        </p:nvSpPr>
        <p:spPr>
          <a:xfrm>
            <a:off x="4797985" y="3161404"/>
            <a:ext cx="1452580" cy="784757"/>
          </a:xfrm>
          <a:prstGeom prst="cube">
            <a:avLst>
              <a:gd fmla="val 60156" name="adj"/>
            </a:avLst>
          </a:prstGeom>
          <a:solidFill>
            <a:srgbClr val="B3C6E7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9" name="Google Shape;299;p34"/>
          <p:cNvSpPr/>
          <p:nvPr/>
        </p:nvSpPr>
        <p:spPr>
          <a:xfrm>
            <a:off x="5880149" y="3161404"/>
            <a:ext cx="1452580" cy="784757"/>
          </a:xfrm>
          <a:prstGeom prst="cube">
            <a:avLst>
              <a:gd fmla="val 60156" name="adj"/>
            </a:avLst>
          </a:prstGeom>
          <a:solidFill>
            <a:srgbClr val="B3C6E7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" name="Google Shape;300;p34"/>
          <p:cNvSpPr/>
          <p:nvPr/>
        </p:nvSpPr>
        <p:spPr>
          <a:xfrm>
            <a:off x="6952214" y="3161404"/>
            <a:ext cx="1452580" cy="784757"/>
          </a:xfrm>
          <a:prstGeom prst="cube">
            <a:avLst>
              <a:gd fmla="val 60156" name="adj"/>
            </a:avLst>
          </a:prstGeom>
          <a:solidFill>
            <a:srgbClr val="B3C6E7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1" name="Google Shape;301;p34"/>
          <p:cNvSpPr/>
          <p:nvPr/>
        </p:nvSpPr>
        <p:spPr>
          <a:xfrm>
            <a:off x="3217450" y="3678221"/>
            <a:ext cx="1452580" cy="784757"/>
          </a:xfrm>
          <a:prstGeom prst="cube">
            <a:avLst>
              <a:gd fmla="val 60156" name="adj"/>
            </a:avLst>
          </a:prstGeom>
          <a:solidFill>
            <a:srgbClr val="B3C6E7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2" name="Google Shape;302;p34"/>
          <p:cNvSpPr/>
          <p:nvPr/>
        </p:nvSpPr>
        <p:spPr>
          <a:xfrm>
            <a:off x="4296116" y="3678221"/>
            <a:ext cx="1452580" cy="784757"/>
          </a:xfrm>
          <a:prstGeom prst="cube">
            <a:avLst>
              <a:gd fmla="val 60156" name="adj"/>
            </a:avLst>
          </a:prstGeom>
          <a:solidFill>
            <a:srgbClr val="B3C6E7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3" name="Google Shape;303;p34"/>
          <p:cNvSpPr/>
          <p:nvPr/>
        </p:nvSpPr>
        <p:spPr>
          <a:xfrm>
            <a:off x="5378280" y="3678221"/>
            <a:ext cx="1452580" cy="784757"/>
          </a:xfrm>
          <a:prstGeom prst="cube">
            <a:avLst>
              <a:gd fmla="val 60156" name="adj"/>
            </a:avLst>
          </a:prstGeom>
          <a:solidFill>
            <a:srgbClr val="B3C6E7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4" name="Google Shape;304;p34"/>
          <p:cNvSpPr/>
          <p:nvPr/>
        </p:nvSpPr>
        <p:spPr>
          <a:xfrm>
            <a:off x="6450346" y="3678221"/>
            <a:ext cx="1452580" cy="784757"/>
          </a:xfrm>
          <a:prstGeom prst="cube">
            <a:avLst>
              <a:gd fmla="val 60156" name="adj"/>
            </a:avLst>
          </a:prstGeom>
          <a:solidFill>
            <a:srgbClr val="B3C6E7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5" name="Google Shape;305;p34"/>
          <p:cNvSpPr/>
          <p:nvPr/>
        </p:nvSpPr>
        <p:spPr>
          <a:xfrm>
            <a:off x="2715581" y="4195039"/>
            <a:ext cx="1452580" cy="784757"/>
          </a:xfrm>
          <a:prstGeom prst="cube">
            <a:avLst>
              <a:gd fmla="val 60156" name="adj"/>
            </a:avLst>
          </a:prstGeom>
          <a:solidFill>
            <a:srgbClr val="B3C6E7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6" name="Google Shape;306;p34"/>
          <p:cNvSpPr/>
          <p:nvPr/>
        </p:nvSpPr>
        <p:spPr>
          <a:xfrm>
            <a:off x="3794248" y="4195039"/>
            <a:ext cx="1452580" cy="784757"/>
          </a:xfrm>
          <a:prstGeom prst="cube">
            <a:avLst>
              <a:gd fmla="val 60156" name="adj"/>
            </a:avLst>
          </a:prstGeom>
          <a:solidFill>
            <a:srgbClr val="B3C6E7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7" name="Google Shape;307;p34"/>
          <p:cNvSpPr/>
          <p:nvPr/>
        </p:nvSpPr>
        <p:spPr>
          <a:xfrm>
            <a:off x="4876412" y="4195039"/>
            <a:ext cx="1452580" cy="784757"/>
          </a:xfrm>
          <a:prstGeom prst="cube">
            <a:avLst>
              <a:gd fmla="val 60156" name="adj"/>
            </a:avLst>
          </a:prstGeom>
          <a:solidFill>
            <a:srgbClr val="B3C6E7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8" name="Google Shape;308;p34"/>
          <p:cNvSpPr/>
          <p:nvPr/>
        </p:nvSpPr>
        <p:spPr>
          <a:xfrm>
            <a:off x="5948478" y="4195039"/>
            <a:ext cx="1452580" cy="784757"/>
          </a:xfrm>
          <a:prstGeom prst="cube">
            <a:avLst>
              <a:gd fmla="val 60156" name="adj"/>
            </a:avLst>
          </a:prstGeom>
          <a:solidFill>
            <a:srgbClr val="B3C6E7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9" name="Google Shape;309;p34"/>
          <p:cNvSpPr/>
          <p:nvPr/>
        </p:nvSpPr>
        <p:spPr>
          <a:xfrm>
            <a:off x="4876411" y="3788056"/>
            <a:ext cx="1472885" cy="1224810"/>
          </a:xfrm>
          <a:prstGeom prst="cube">
            <a:avLst>
              <a:gd fmla="val 41107" name="adj"/>
            </a:avLst>
          </a:prstGeom>
          <a:solidFill>
            <a:srgbClr val="FF0000">
              <a:alpha val="29411"/>
            </a:srgbClr>
          </a:solidFill>
          <a:ln cap="flat" cmpd="sng" w="1905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0" name="Google Shape;310;p34"/>
          <p:cNvSpPr/>
          <p:nvPr/>
        </p:nvSpPr>
        <p:spPr>
          <a:xfrm>
            <a:off x="6460552" y="3197829"/>
            <a:ext cx="1495399" cy="1224810"/>
          </a:xfrm>
          <a:prstGeom prst="cube">
            <a:avLst>
              <a:gd fmla="val 41107" name="adj"/>
            </a:avLst>
          </a:prstGeom>
          <a:solidFill>
            <a:srgbClr val="FF0000">
              <a:alpha val="29411"/>
            </a:srgbClr>
          </a:solidFill>
          <a:ln cap="flat" cmpd="sng" w="1905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/>
          <p:nvPr/>
        </p:nvSpPr>
        <p:spPr>
          <a:xfrm>
            <a:off x="0" y="6661463"/>
            <a:ext cx="12192000" cy="196537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6" name="Google Shape;316;p6"/>
          <p:cNvSpPr/>
          <p:nvPr/>
        </p:nvSpPr>
        <p:spPr>
          <a:xfrm>
            <a:off x="0" y="0"/>
            <a:ext cx="12192000" cy="196537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7" name="Google Shape;317;p6"/>
          <p:cNvSpPr txBox="1"/>
          <p:nvPr/>
        </p:nvSpPr>
        <p:spPr>
          <a:xfrm>
            <a:off x="5463375" y="6628926"/>
            <a:ext cx="126305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Ver.1.0.0</a:t>
            </a:r>
            <a:endParaRPr b="1" i="0" sz="105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18" name="Google Shape;318;p6"/>
          <p:cNvPicPr preferRelativeResize="0"/>
          <p:nvPr/>
        </p:nvPicPr>
        <p:blipFill rotWithShape="1">
          <a:blip r:embed="rId3">
            <a:alphaModFix/>
          </a:blip>
          <a:srcRect b="0" l="0" r="0" t="7980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6"/>
          <p:cNvSpPr txBox="1"/>
          <p:nvPr/>
        </p:nvSpPr>
        <p:spPr>
          <a:xfrm>
            <a:off x="157882" y="624365"/>
            <a:ext cx="31576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 섞는 로직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6"/>
          <p:cNvSpPr txBox="1"/>
          <p:nvPr>
            <p:ph idx="12" type="sldNum"/>
          </p:nvPr>
        </p:nvSpPr>
        <p:spPr>
          <a:xfrm>
            <a:off x="9824484" y="1"/>
            <a:ext cx="2367516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1" name="Google Shape;321;p6"/>
          <p:cNvSpPr txBox="1"/>
          <p:nvPr>
            <p:ph idx="11" type="ftr"/>
          </p:nvPr>
        </p:nvSpPr>
        <p:spPr>
          <a:xfrm>
            <a:off x="0" y="3175"/>
            <a:ext cx="40269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PUZ_07_슬라이드 퍼즐 시스템 기획서</a:t>
            </a:r>
            <a:endParaRPr/>
          </a:p>
        </p:txBody>
      </p:sp>
      <p:sp>
        <p:nvSpPr>
          <p:cNvPr id="322" name="Google Shape;322;p6"/>
          <p:cNvSpPr txBox="1"/>
          <p:nvPr/>
        </p:nvSpPr>
        <p:spPr>
          <a:xfrm>
            <a:off x="524322" y="1113706"/>
            <a:ext cx="11143500" cy="13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 조각은 완성 상태에서 역순으로 섞는다. </a:t>
            </a:r>
            <a:endParaRPr/>
          </a:p>
          <a:p>
            <a:pPr indent="-952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직전에 이동한 위치로는 이동되지 않는다.</a:t>
            </a:r>
            <a:endParaRPr/>
          </a:p>
          <a:p>
            <a:pPr indent="-952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섞는 횟수는 테이블 변수로 지정한다.</a:t>
            </a:r>
            <a:endParaRPr/>
          </a:p>
          <a:p>
            <a:pPr indent="-952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952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23" name="Google Shape;323;p6"/>
          <p:cNvGrpSpPr/>
          <p:nvPr/>
        </p:nvGrpSpPr>
        <p:grpSpPr>
          <a:xfrm>
            <a:off x="1164342" y="2531197"/>
            <a:ext cx="3696106" cy="3678743"/>
            <a:chOff x="1304042" y="1876279"/>
            <a:chExt cx="3696106" cy="3678743"/>
          </a:xfrm>
        </p:grpSpPr>
        <p:pic>
          <p:nvPicPr>
            <p:cNvPr descr="하늘, 하늘빛, 일렉트릭 블루, 야외이(가) 표시된 사진&#10;&#10;AI가 생성한 콘텐츠는 부정확할 수 있습니다." id="324" name="Google Shape;32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04042" y="1880160"/>
              <a:ext cx="902901" cy="9029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바퀴, 교통, 야외이(가) 표시된 사진&#10;&#10;AI가 생성한 콘텐츠는 부정확할 수 있습니다." id="325" name="Google Shape;325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251234" y="1880160"/>
              <a:ext cx="886778" cy="9029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모자, 야외이(가) 표시된 사진&#10;&#10;AI가 생성한 콘텐츠는 부정확할 수 있습니다." id="326" name="Google Shape;326;p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182302" y="2811717"/>
              <a:ext cx="886778" cy="9029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하늘, 일렉트릭 블루, 하늘빛, 블루이(가) 표시된 사진&#10;&#10;AI가 생성한 콘텐츠는 부정확할 수 있습니다." id="327" name="Google Shape;327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182302" y="1876279"/>
              <a:ext cx="886778" cy="9029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하늘, 하늘빛, 일렉트릭 블루, 블루이(가) 표시된 사진&#10;&#10;AI가 생성한 콘텐츠는 부정확할 수 있습니다." id="328" name="Google Shape;328;p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312105" y="2820270"/>
              <a:ext cx="902901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만화 영화, 사람, 야외, 바퀴이(가) 표시된 사진&#10;&#10;AI가 생성한 콘텐츠는 부정확할 수 있습니다." id="329" name="Google Shape;329;p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251234" y="3744257"/>
              <a:ext cx="886778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텍스트, 바퀴이(가) 표시된 사진&#10;&#10;AI가 생성한 콘텐츠는 부정확할 수 있습니다." id="330" name="Google Shape;330;p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243614" y="2820270"/>
              <a:ext cx="886778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하늘, 일렉트릭 블루, 블루, 자연이(가) 표시된 사진&#10;&#10;AI가 생성한 콘텐츠는 부정확할 수 있습니다." id="331" name="Google Shape;331;p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113370" y="1878784"/>
              <a:ext cx="886778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하늘, 비행, 블루, 비행기이(가) 표시된 사진&#10;&#10;AI가 생성한 콘텐츠는 부정확할 수 있습니다." id="332" name="Google Shape;332;p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304043" y="3744257"/>
              <a:ext cx="902901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사람, 실내이(가) 표시된 사진&#10;&#10;AI가 생성한 콘텐츠는 부정확할 수 있습니다." id="333" name="Google Shape;333;p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186350" y="3744257"/>
              <a:ext cx="886778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사람, 붕대, 액세서리, 잡기이(가) 표시된 사진&#10;&#10;AI가 생성한 콘텐츠는 부정확할 수 있습니다." id="334" name="Google Shape;334;p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3182302" y="4656582"/>
              <a:ext cx="886778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일렉트릭 블루, 하늘빛, 아쿠아, 블러이(가) 표시된 사진&#10;&#10;AI가 생성한 콘텐츠는 부정확할 수 있습니다." id="335" name="Google Shape;335;p6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4113370" y="2815654"/>
              <a:ext cx="886778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블루, 일렉트릭 블루, 하늘빛, 아쿠아이(가) 표시된 사진&#10;&#10;AI가 생성한 콘텐츠는 부정확할 수 있습니다." id="336" name="Google Shape;336;p6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1304043" y="4668244"/>
              <a:ext cx="902901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사람, 피트, 신발, 신발류이(가) 표시된 사진&#10;&#10;AI가 생성한 콘텐츠는 부정확할 수 있습니다." id="337" name="Google Shape;337;p6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2251234" y="4668244"/>
              <a:ext cx="886778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의류, 신발류, 신발, 사람이(가) 표시된 사진&#10;&#10;AI가 생성한 콘텐츠는 부정확할 수 있습니다." id="338" name="Google Shape;338;p6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4113370" y="4651267"/>
              <a:ext cx="886778" cy="8867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9" name="Google Shape;339;p6"/>
          <p:cNvGrpSpPr/>
          <p:nvPr/>
        </p:nvGrpSpPr>
        <p:grpSpPr>
          <a:xfrm>
            <a:off x="7230266" y="2519535"/>
            <a:ext cx="3696106" cy="3702068"/>
            <a:chOff x="1456442" y="2005354"/>
            <a:chExt cx="3696106" cy="3702068"/>
          </a:xfrm>
        </p:grpSpPr>
        <p:pic>
          <p:nvPicPr>
            <p:cNvPr descr="하늘, 하늘빛, 일렉트릭 블루, 야외이(가) 표시된 사진&#10;&#10;AI가 생성한 콘텐츠는 부정확할 수 있습니다." id="340" name="Google Shape;340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56442" y="2032560"/>
              <a:ext cx="902901" cy="9029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바퀴, 교통, 야외이(가) 표시된 사진&#10;&#10;AI가 생성한 콘텐츠는 부정확할 수 있습니다." id="341" name="Google Shape;341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03634" y="2032560"/>
              <a:ext cx="886778" cy="9029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모자, 야외이(가) 표시된 사진&#10;&#10;AI가 생성한 콘텐츠는 부정확할 수 있습니다." id="342" name="Google Shape;342;p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34702" y="2017017"/>
              <a:ext cx="886778" cy="9029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하늘, 일렉트릭 블루, 하늘빛, 블루이(가) 표시된 사진&#10;&#10;AI가 생성한 콘텐츠는 부정확할 수 있습니다." id="343" name="Google Shape;343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265770" y="2005354"/>
              <a:ext cx="886778" cy="9029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하늘, 하늘빛, 일렉트릭 블루, 블루이(가) 표시된 사진&#10;&#10;AI가 생성한 콘텐츠는 부정확할 수 있습니다." id="344" name="Google Shape;344;p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464505" y="2972670"/>
              <a:ext cx="902901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만화 영화, 사람, 야외, 바퀴이(가) 표시된 사진&#10;&#10;AI가 생성한 콘텐츠는 부정확할 수 있습니다." id="345" name="Google Shape;345;p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403634" y="2972670"/>
              <a:ext cx="886778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텍스트, 바퀴이(가) 표시된 사진&#10;&#10;AI가 생성한 콘텐츠는 부정확할 수 있습니다." id="346" name="Google Shape;346;p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334702" y="2972670"/>
              <a:ext cx="886778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하늘, 일렉트릭 블루, 블루, 자연이(가) 표시된 사진&#10;&#10;AI가 생성한 콘텐츠는 부정확할 수 있습니다." id="347" name="Google Shape;347;p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265770" y="2953525"/>
              <a:ext cx="886778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하늘, 비행, 블루, 비행기이(가) 표시된 사진&#10;&#10;AI가 생성한 콘텐츠는 부정확할 수 있습니다." id="348" name="Google Shape;348;p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456443" y="3896657"/>
              <a:ext cx="902901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사람, 실내이(가) 표시된 사진&#10;&#10;AI가 생성한 콘텐츠는 부정확할 수 있습니다." id="349" name="Google Shape;349;p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2403634" y="3896657"/>
              <a:ext cx="886778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사람, 붕대, 액세서리, 잡기이(가) 표시된 사진&#10;&#10;AI가 생성한 콘텐츠는 부정확할 수 있습니다." id="350" name="Google Shape;350;p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3334702" y="3896657"/>
              <a:ext cx="886778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일렉트릭 블루, 하늘빛, 아쿠아, 블러이(가) 표시된 사진&#10;&#10;AI가 생성한 콘텐츠는 부정확할 수 있습니다." id="351" name="Google Shape;351;p6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4265770" y="3896657"/>
              <a:ext cx="886778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블루, 일렉트릭 블루, 하늘빛, 아쿠아이(가) 표시된 사진&#10;&#10;AI가 생성한 콘텐츠는 부정확할 수 있습니다." id="352" name="Google Shape;352;p6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1456443" y="4820644"/>
              <a:ext cx="902901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사람, 피트, 신발, 신발류이(가) 표시된 사진&#10;&#10;AI가 생성한 콘텐츠는 부정확할 수 있습니다." id="353" name="Google Shape;353;p6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2403634" y="4820644"/>
              <a:ext cx="886778" cy="886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의류, 신발류, 신발, 사람이(가) 표시된 사진&#10;&#10;AI가 생성한 콘텐츠는 부정확할 수 있습니다." id="354" name="Google Shape;354;p6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3334702" y="4820644"/>
              <a:ext cx="886778" cy="88677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5" name="Google Shape;355;p6"/>
          <p:cNvSpPr/>
          <p:nvPr/>
        </p:nvSpPr>
        <p:spPr>
          <a:xfrm rot="10800000">
            <a:off x="5323675" y="3992478"/>
            <a:ext cx="1338388" cy="66294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5"/>
          <p:cNvSpPr/>
          <p:nvPr/>
        </p:nvSpPr>
        <p:spPr>
          <a:xfrm>
            <a:off x="0" y="6661463"/>
            <a:ext cx="12192000" cy="196537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1" name="Google Shape;361;p35"/>
          <p:cNvSpPr/>
          <p:nvPr/>
        </p:nvSpPr>
        <p:spPr>
          <a:xfrm>
            <a:off x="0" y="0"/>
            <a:ext cx="12192000" cy="196537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2" name="Google Shape;362;p35"/>
          <p:cNvSpPr txBox="1"/>
          <p:nvPr/>
        </p:nvSpPr>
        <p:spPr>
          <a:xfrm>
            <a:off x="5463375" y="6628926"/>
            <a:ext cx="126305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Ver.1.0.0</a:t>
            </a:r>
            <a:endParaRPr b="1" i="0" sz="105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63" name="Google Shape;363;p35"/>
          <p:cNvPicPr preferRelativeResize="0"/>
          <p:nvPr/>
        </p:nvPicPr>
        <p:blipFill rotWithShape="1">
          <a:blip r:embed="rId3">
            <a:alphaModFix/>
          </a:blip>
          <a:srcRect b="0" l="0" r="0" t="7980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5"/>
          <p:cNvSpPr txBox="1"/>
          <p:nvPr/>
        </p:nvSpPr>
        <p:spPr>
          <a:xfrm>
            <a:off x="157882" y="624365"/>
            <a:ext cx="31576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 섞는 로직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5"/>
          <p:cNvSpPr txBox="1"/>
          <p:nvPr>
            <p:ph idx="12" type="sldNum"/>
          </p:nvPr>
        </p:nvSpPr>
        <p:spPr>
          <a:xfrm>
            <a:off x="9824484" y="1"/>
            <a:ext cx="2367516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6" name="Google Shape;366;p35"/>
          <p:cNvSpPr txBox="1"/>
          <p:nvPr>
            <p:ph idx="11" type="ftr"/>
          </p:nvPr>
        </p:nvSpPr>
        <p:spPr>
          <a:xfrm>
            <a:off x="0" y="3175"/>
            <a:ext cx="40269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PUZ_07_슬라이드 퍼즐 시스템 기획서</a:t>
            </a:r>
            <a:endParaRPr/>
          </a:p>
        </p:txBody>
      </p:sp>
      <p:sp>
        <p:nvSpPr>
          <p:cNvPr id="367" name="Google Shape;367;p35"/>
          <p:cNvSpPr txBox="1"/>
          <p:nvPr/>
        </p:nvSpPr>
        <p:spPr>
          <a:xfrm>
            <a:off x="524322" y="1113706"/>
            <a:ext cx="4352478" cy="13849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 조각은 완성 상태에서 역순으로 섞는다. </a:t>
            </a:r>
            <a:endParaRPr/>
          </a:p>
          <a:p>
            <a:pPr indent="-952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직전에 이동한 위치로는 이동되지 않는다.</a:t>
            </a:r>
            <a:endParaRPr/>
          </a:p>
          <a:p>
            <a:pPr indent="-952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섞는 횟수는 테이블 변수로 지정한다.</a:t>
            </a:r>
            <a:endParaRPr/>
          </a:p>
          <a:p>
            <a:pPr indent="-952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952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텍스트, 스크린샷, 폰트, 직사각형이(가) 표시된 사진&#10;&#10;AI가 생성한 콘텐츠는 부정확할 수 있습니다." id="368" name="Google Shape;36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6538" y="2498660"/>
            <a:ext cx="9036730" cy="3930561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5"/>
          <p:cNvSpPr txBox="1"/>
          <p:nvPr/>
        </p:nvSpPr>
        <p:spPr>
          <a:xfrm>
            <a:off x="5384800" y="5007526"/>
            <a:ext cx="19177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= 섞어야 하는 횟수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6"/>
          <p:cNvSpPr/>
          <p:nvPr/>
        </p:nvSpPr>
        <p:spPr>
          <a:xfrm>
            <a:off x="0" y="6661463"/>
            <a:ext cx="12192000" cy="196537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5" name="Google Shape;375;p36"/>
          <p:cNvSpPr/>
          <p:nvPr/>
        </p:nvSpPr>
        <p:spPr>
          <a:xfrm>
            <a:off x="0" y="0"/>
            <a:ext cx="12192000" cy="196537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6" name="Google Shape;376;p36"/>
          <p:cNvSpPr txBox="1"/>
          <p:nvPr/>
        </p:nvSpPr>
        <p:spPr>
          <a:xfrm>
            <a:off x="5463375" y="6628926"/>
            <a:ext cx="126305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Ver.1.0.0</a:t>
            </a:r>
            <a:endParaRPr b="1" i="0" sz="105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77" name="Google Shape;377;p36"/>
          <p:cNvPicPr preferRelativeResize="0"/>
          <p:nvPr/>
        </p:nvPicPr>
        <p:blipFill rotWithShape="1">
          <a:blip r:embed="rId3">
            <a:alphaModFix/>
          </a:blip>
          <a:srcRect b="0" l="0" r="0" t="7980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6"/>
          <p:cNvSpPr txBox="1"/>
          <p:nvPr/>
        </p:nvSpPr>
        <p:spPr>
          <a:xfrm>
            <a:off x="157882" y="624365"/>
            <a:ext cx="31576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 완성 연출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6"/>
          <p:cNvSpPr txBox="1"/>
          <p:nvPr>
            <p:ph idx="12" type="sldNum"/>
          </p:nvPr>
        </p:nvSpPr>
        <p:spPr>
          <a:xfrm>
            <a:off x="9824484" y="1"/>
            <a:ext cx="2367516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0" name="Google Shape;380;p36"/>
          <p:cNvSpPr txBox="1"/>
          <p:nvPr>
            <p:ph idx="11" type="ftr"/>
          </p:nvPr>
        </p:nvSpPr>
        <p:spPr>
          <a:xfrm>
            <a:off x="0" y="3175"/>
            <a:ext cx="40269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PUZ_07_슬라이드 퍼즐 시스템 기획서</a:t>
            </a:r>
            <a:endParaRPr/>
          </a:p>
        </p:txBody>
      </p:sp>
      <p:sp>
        <p:nvSpPr>
          <p:cNvPr id="381" name="Google Shape;381;p36"/>
          <p:cNvSpPr txBox="1"/>
          <p:nvPr/>
        </p:nvSpPr>
        <p:spPr>
          <a:xfrm>
            <a:off x="524322" y="1113706"/>
            <a:ext cx="11143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완성했을 때, 비어있던 조각이 표시되고 간격이 좁혀지며, 원본 이미지가 </a:t>
            </a: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초간 표시되었다가 사라짐.</a:t>
            </a:r>
            <a:b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b="1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•"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원본 이미지가 표시되었을 때, S_PUZ07_Success_SFX를 재생한다.</a:t>
            </a: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952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82" name="Google Shape;382;p36"/>
          <p:cNvGrpSpPr/>
          <p:nvPr/>
        </p:nvGrpSpPr>
        <p:grpSpPr>
          <a:xfrm>
            <a:off x="1789586" y="2227471"/>
            <a:ext cx="3696106" cy="3702068"/>
            <a:chOff x="7230266" y="2519535"/>
            <a:chExt cx="3696106" cy="3702068"/>
          </a:xfrm>
        </p:grpSpPr>
        <p:grpSp>
          <p:nvGrpSpPr>
            <p:cNvPr id="383" name="Google Shape;383;p36"/>
            <p:cNvGrpSpPr/>
            <p:nvPr/>
          </p:nvGrpSpPr>
          <p:grpSpPr>
            <a:xfrm>
              <a:off x="7230266" y="2519535"/>
              <a:ext cx="3696106" cy="3702068"/>
              <a:chOff x="1456442" y="2005354"/>
              <a:chExt cx="3696106" cy="3702068"/>
            </a:xfrm>
          </p:grpSpPr>
          <p:pic>
            <p:nvPicPr>
              <p:cNvPr descr="하늘, 하늘빛, 일렉트릭 블루, 야외이(가) 표시된 사진&#10;&#10;AI가 생성한 콘텐츠는 부정확할 수 있습니다." id="384" name="Google Shape;384;p3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456442" y="2032560"/>
                <a:ext cx="902901" cy="90290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바퀴, 교통, 야외이(가) 표시된 사진&#10;&#10;AI가 생성한 콘텐츠는 부정확할 수 있습니다." id="385" name="Google Shape;385;p3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403634" y="2032560"/>
                <a:ext cx="886778" cy="90290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모자, 야외이(가) 표시된 사진&#10;&#10;AI가 생성한 콘텐츠는 부정확할 수 있습니다." id="386" name="Google Shape;386;p3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34702" y="2017017"/>
                <a:ext cx="886778" cy="90290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하늘, 일렉트릭 블루, 하늘빛, 블루이(가) 표시된 사진&#10;&#10;AI가 생성한 콘텐츠는 부정확할 수 있습니다." id="387" name="Google Shape;387;p36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4265770" y="2005354"/>
                <a:ext cx="886778" cy="90290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하늘, 하늘빛, 일렉트릭 블루, 블루이(가) 표시된 사진&#10;&#10;AI가 생성한 콘텐츠는 부정확할 수 있습니다." id="388" name="Google Shape;388;p36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464505" y="2972670"/>
                <a:ext cx="902901" cy="8867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만화 영화, 사람, 야외, 바퀴이(가) 표시된 사진&#10;&#10;AI가 생성한 콘텐츠는 부정확할 수 있습니다." id="389" name="Google Shape;389;p36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2403634" y="2972670"/>
                <a:ext cx="886778" cy="8867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텍스트, 바퀴이(가) 표시된 사진&#10;&#10;AI가 생성한 콘텐츠는 부정확할 수 있습니다." id="390" name="Google Shape;390;p36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3334702" y="2972670"/>
                <a:ext cx="886778" cy="8867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하늘, 일렉트릭 블루, 블루, 자연이(가) 표시된 사진&#10;&#10;AI가 생성한 콘텐츠는 부정확할 수 있습니다." id="391" name="Google Shape;391;p36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4265770" y="2953525"/>
                <a:ext cx="886778" cy="8867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하늘, 비행, 블루, 비행기이(가) 표시된 사진&#10;&#10;AI가 생성한 콘텐츠는 부정확할 수 있습니다." id="392" name="Google Shape;392;p36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1456443" y="3896657"/>
                <a:ext cx="902901" cy="8867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사람, 실내이(가) 표시된 사진&#10;&#10;AI가 생성한 콘텐츠는 부정확할 수 있습니다." id="393" name="Google Shape;393;p36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2403634" y="3896657"/>
                <a:ext cx="886778" cy="8867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사람, 붕대, 액세서리, 잡기이(가) 표시된 사진&#10;&#10;AI가 생성한 콘텐츠는 부정확할 수 있습니다." id="394" name="Google Shape;394;p36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3334702" y="3896657"/>
                <a:ext cx="886778" cy="8867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일렉트릭 블루, 하늘빛, 아쿠아, 블러이(가) 표시된 사진&#10;&#10;AI가 생성한 콘텐츠는 부정확할 수 있습니다." id="395" name="Google Shape;395;p36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4265770" y="3896657"/>
                <a:ext cx="886778" cy="8867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블루, 일렉트릭 블루, 하늘빛, 아쿠아이(가) 표시된 사진&#10;&#10;AI가 생성한 콘텐츠는 부정확할 수 있습니다." id="396" name="Google Shape;396;p36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1456443" y="4820644"/>
                <a:ext cx="902901" cy="8867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사람, 피트, 신발, 신발류이(가) 표시된 사진&#10;&#10;AI가 생성한 콘텐츠는 부정확할 수 있습니다." id="397" name="Google Shape;397;p36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2403634" y="4820644"/>
                <a:ext cx="886778" cy="8867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의류, 신발류, 신발, 사람이(가) 표시된 사진&#10;&#10;AI가 생성한 콘텐츠는 부정확할 수 있습니다." id="398" name="Google Shape;398;p36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3334702" y="4820644"/>
                <a:ext cx="886778" cy="88677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블루, 일렉트릭 블루, 하늘빛, 아쿠아이(가) 표시된 사진&#10;&#10;AI가 생성한 콘텐츠는 부정확할 수 있습니다." id="399" name="Google Shape;399;p36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10039594" y="5330153"/>
              <a:ext cx="886778" cy="88677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장난감, 만화 영화, 피규어, 인형이(가) 표시된 사진&#10;&#10;AI가 생성한 콘텐츠는 부정확할 수 있습니다." id="400" name="Google Shape;400;p3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628998" y="2234826"/>
            <a:ext cx="3693476" cy="3693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1"/>
          <p:cNvSpPr/>
          <p:nvPr/>
        </p:nvSpPr>
        <p:spPr>
          <a:xfrm>
            <a:off x="0" y="6661463"/>
            <a:ext cx="12192000" cy="196537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0" y="0"/>
            <a:ext cx="12192000" cy="196537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7" name="Google Shape;407;p11"/>
          <p:cNvSpPr txBox="1"/>
          <p:nvPr/>
        </p:nvSpPr>
        <p:spPr>
          <a:xfrm>
            <a:off x="5463375" y="6628926"/>
            <a:ext cx="126305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Ver.1.0.0</a:t>
            </a:r>
            <a:endParaRPr b="1" i="0" sz="105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08" name="Google Shape;408;p11"/>
          <p:cNvPicPr preferRelativeResize="0"/>
          <p:nvPr/>
        </p:nvPicPr>
        <p:blipFill rotWithShape="1">
          <a:blip r:embed="rId3">
            <a:alphaModFix/>
          </a:blip>
          <a:srcRect b="0" l="0" r="0" t="7980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11"/>
          <p:cNvSpPr txBox="1"/>
          <p:nvPr>
            <p:ph idx="12" type="sldNum"/>
          </p:nvPr>
        </p:nvSpPr>
        <p:spPr>
          <a:xfrm>
            <a:off x="9824484" y="1"/>
            <a:ext cx="2367516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0" name="Google Shape;410;p11"/>
          <p:cNvSpPr txBox="1"/>
          <p:nvPr>
            <p:ph idx="11" type="ftr"/>
          </p:nvPr>
        </p:nvSpPr>
        <p:spPr>
          <a:xfrm>
            <a:off x="0" y="3175"/>
            <a:ext cx="39928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PUZ_07_슬라이드 퍼즐 시스템 기획서</a:t>
            </a:r>
            <a:endParaRPr/>
          </a:p>
        </p:txBody>
      </p:sp>
      <p:sp>
        <p:nvSpPr>
          <p:cNvPr id="411" name="Google Shape;411;p11"/>
          <p:cNvSpPr txBox="1"/>
          <p:nvPr/>
        </p:nvSpPr>
        <p:spPr>
          <a:xfrm>
            <a:off x="157882" y="624365"/>
            <a:ext cx="31576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 사이드패널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1"/>
          <p:cNvSpPr txBox="1"/>
          <p:nvPr/>
        </p:nvSpPr>
        <p:spPr>
          <a:xfrm>
            <a:off x="524322" y="1113706"/>
            <a:ext cx="1114335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사이드패널 중앙에 원본 이미지를 표시한다. </a:t>
            </a:r>
            <a:endParaRPr b="1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13" name="Google Shape;413;p11"/>
          <p:cNvPicPr preferRelativeResize="0"/>
          <p:nvPr/>
        </p:nvPicPr>
        <p:blipFill rotWithShape="1">
          <a:blip r:embed="rId4">
            <a:alphaModFix/>
          </a:blip>
          <a:srcRect b="12182" l="10462" r="11563" t="16040"/>
          <a:stretch/>
        </p:blipFill>
        <p:spPr>
          <a:xfrm>
            <a:off x="621447" y="2092338"/>
            <a:ext cx="4791079" cy="2960185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1"/>
          <p:cNvSpPr/>
          <p:nvPr/>
        </p:nvSpPr>
        <p:spPr>
          <a:xfrm>
            <a:off x="4225065" y="3076388"/>
            <a:ext cx="694377" cy="429853"/>
          </a:xfrm>
          <a:custGeom>
            <a:rect b="b" l="l" r="r" t="t"/>
            <a:pathLst>
              <a:path extrusionOk="0" h="660400" w="1066800">
                <a:moveTo>
                  <a:pt x="0" y="25400"/>
                </a:moveTo>
                <a:lnTo>
                  <a:pt x="101600" y="660400"/>
                </a:lnTo>
                <a:lnTo>
                  <a:pt x="1066800" y="651934"/>
                </a:lnTo>
                <a:lnTo>
                  <a:pt x="948266" y="0"/>
                </a:lnTo>
                <a:lnTo>
                  <a:pt x="0" y="25400"/>
                </a:lnTo>
                <a:close/>
              </a:path>
            </a:pathLst>
          </a:custGeom>
          <a:solidFill>
            <a:srgbClr val="FF0000">
              <a:alpha val="29411"/>
            </a:srgbClr>
          </a:solidFill>
          <a:ln cap="flat" cmpd="sng" w="28575">
            <a:solidFill>
              <a:srgbClr val="FFFF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장난감, 만화 영화, 피규어, 인형이(가) 표시된 사진&#10;&#10;AI가 생성한 콘텐츠는 부정확할 수 있습니다." id="415" name="Google Shape;41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46390" y="2169080"/>
            <a:ext cx="2806700" cy="2806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6" name="Google Shape;416;p11"/>
          <p:cNvCxnSpPr/>
          <p:nvPr/>
        </p:nvCxnSpPr>
        <p:spPr>
          <a:xfrm>
            <a:off x="4919442" y="3311249"/>
            <a:ext cx="2845338" cy="261181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0"/>
          <p:cNvSpPr/>
          <p:nvPr/>
        </p:nvSpPr>
        <p:spPr>
          <a:xfrm>
            <a:off x="4969739" y="1348541"/>
            <a:ext cx="2250327" cy="355194"/>
          </a:xfrm>
          <a:prstGeom prst="rect">
            <a:avLst/>
          </a:prstGeom>
          <a:solidFill>
            <a:srgbClr val="9EA7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2" name="Google Shape;422;p20"/>
          <p:cNvSpPr/>
          <p:nvPr/>
        </p:nvSpPr>
        <p:spPr>
          <a:xfrm>
            <a:off x="4969739" y="1804240"/>
            <a:ext cx="2250327" cy="1591324"/>
          </a:xfrm>
          <a:prstGeom prst="rect">
            <a:avLst/>
          </a:prstGeom>
          <a:noFill/>
          <a:ln cap="flat" cmpd="sng" w="1905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3" name="Google Shape;423;p20"/>
          <p:cNvSpPr/>
          <p:nvPr/>
        </p:nvSpPr>
        <p:spPr>
          <a:xfrm>
            <a:off x="8688646" y="1348541"/>
            <a:ext cx="2250327" cy="355194"/>
          </a:xfrm>
          <a:prstGeom prst="rect">
            <a:avLst/>
          </a:prstGeom>
          <a:solidFill>
            <a:srgbClr val="9EA7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4" name="Google Shape;424;p20"/>
          <p:cNvSpPr/>
          <p:nvPr/>
        </p:nvSpPr>
        <p:spPr>
          <a:xfrm>
            <a:off x="8688646" y="1804240"/>
            <a:ext cx="2250327" cy="1591324"/>
          </a:xfrm>
          <a:prstGeom prst="rect">
            <a:avLst/>
          </a:prstGeom>
          <a:noFill/>
          <a:ln cap="flat" cmpd="sng" w="1905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5" name="Google Shape;425;p20"/>
          <p:cNvSpPr/>
          <p:nvPr/>
        </p:nvSpPr>
        <p:spPr>
          <a:xfrm>
            <a:off x="1250832" y="1348541"/>
            <a:ext cx="2250327" cy="355194"/>
          </a:xfrm>
          <a:prstGeom prst="rect">
            <a:avLst/>
          </a:prstGeom>
          <a:solidFill>
            <a:srgbClr val="9EA7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6" name="Google Shape;426;p20"/>
          <p:cNvSpPr/>
          <p:nvPr/>
        </p:nvSpPr>
        <p:spPr>
          <a:xfrm>
            <a:off x="1250832" y="1804240"/>
            <a:ext cx="2250327" cy="1591324"/>
          </a:xfrm>
          <a:prstGeom prst="rect">
            <a:avLst/>
          </a:prstGeom>
          <a:noFill/>
          <a:ln cap="flat" cmpd="sng" w="1905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27" name="Google Shape;427;p20"/>
          <p:cNvGrpSpPr/>
          <p:nvPr/>
        </p:nvGrpSpPr>
        <p:grpSpPr>
          <a:xfrm>
            <a:off x="1250832" y="1348541"/>
            <a:ext cx="9671629" cy="1929848"/>
            <a:chOff x="1250832" y="2563478"/>
            <a:chExt cx="9671629" cy="1929848"/>
          </a:xfrm>
        </p:grpSpPr>
        <p:grpSp>
          <p:nvGrpSpPr>
            <p:cNvPr id="428" name="Google Shape;428;p20"/>
            <p:cNvGrpSpPr/>
            <p:nvPr/>
          </p:nvGrpSpPr>
          <p:grpSpPr>
            <a:xfrm>
              <a:off x="1250832" y="2563478"/>
              <a:ext cx="2250327" cy="1929848"/>
              <a:chOff x="1250832" y="2563478"/>
              <a:chExt cx="2250327" cy="1929848"/>
            </a:xfrm>
          </p:grpSpPr>
          <p:sp>
            <p:nvSpPr>
              <p:cNvPr id="429" name="Google Shape;429;p20"/>
              <p:cNvSpPr txBox="1"/>
              <p:nvPr/>
            </p:nvSpPr>
            <p:spPr>
              <a:xfrm>
                <a:off x="1250832" y="3051713"/>
                <a:ext cx="2250327" cy="14416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171450" lvl="0" marL="17145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algun Gothic"/>
                  <a:buChar char="-"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스위치 퍼즐 ID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171450" lvl="0" marL="17145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algun Gothic"/>
                  <a:buChar char="-"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퍼즐의 난이도</a:t>
                </a:r>
                <a:endParaRPr b="0" i="0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-171450" lvl="0" marL="17145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algun Gothic"/>
                  <a:buChar char="-"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난이도별 제한시간</a:t>
                </a:r>
                <a:endParaRPr b="0" i="0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-171450" lvl="0" marL="17145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algun Gothic"/>
                  <a:buChar char="-"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난이도별 라운드 개수</a:t>
                </a:r>
                <a:endParaRPr b="0" i="0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-171450" lvl="0" marL="17145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algun Gothic"/>
                  <a:buChar char="-"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난이도에 속한 퍼즐 ID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20"/>
              <p:cNvSpPr txBox="1"/>
              <p:nvPr/>
            </p:nvSpPr>
            <p:spPr>
              <a:xfrm>
                <a:off x="1250832" y="2563478"/>
                <a:ext cx="2250327" cy="3336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PUZ 메인 테이블</a:t>
                </a:r>
                <a:endParaRPr b="1" i="0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431" name="Google Shape;431;p20"/>
            <p:cNvGrpSpPr/>
            <p:nvPr/>
          </p:nvGrpSpPr>
          <p:grpSpPr>
            <a:xfrm>
              <a:off x="8672134" y="2563478"/>
              <a:ext cx="2250327" cy="765135"/>
              <a:chOff x="8672134" y="2563478"/>
              <a:chExt cx="2250327" cy="765135"/>
            </a:xfrm>
          </p:grpSpPr>
          <p:sp>
            <p:nvSpPr>
              <p:cNvPr id="432" name="Google Shape;432;p20"/>
              <p:cNvSpPr txBox="1"/>
              <p:nvPr/>
            </p:nvSpPr>
            <p:spPr>
              <a:xfrm>
                <a:off x="8672134" y="3051713"/>
                <a:ext cx="2250300" cy="27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171450" lvl="0" marL="17145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algun Gothic"/>
                  <a:buChar char="-"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이미지 경로</a:t>
                </a:r>
                <a:endParaRPr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33" name="Google Shape;433;p20"/>
              <p:cNvSpPr txBox="1"/>
              <p:nvPr/>
            </p:nvSpPr>
            <p:spPr>
              <a:xfrm>
                <a:off x="8672134" y="2563478"/>
                <a:ext cx="2250327" cy="3462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-US" sz="11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슬라이드 퍼즐 오브젝트 테이블</a:t>
                </a:r>
                <a:endParaRPr b="1" i="0" sz="11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434" name="Google Shape;434;p20"/>
            <p:cNvGrpSpPr/>
            <p:nvPr/>
          </p:nvGrpSpPr>
          <p:grpSpPr>
            <a:xfrm>
              <a:off x="4961483" y="2563478"/>
              <a:ext cx="2250327" cy="1596435"/>
              <a:chOff x="4961483" y="2563478"/>
              <a:chExt cx="2250327" cy="1596435"/>
            </a:xfrm>
          </p:grpSpPr>
          <p:sp>
            <p:nvSpPr>
              <p:cNvPr id="435" name="Google Shape;435;p20"/>
              <p:cNvSpPr txBox="1"/>
              <p:nvPr/>
            </p:nvSpPr>
            <p:spPr>
              <a:xfrm>
                <a:off x="4961483" y="3051713"/>
                <a:ext cx="2250300" cy="110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171450" lvl="0" marL="17145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algun Gothic"/>
                  <a:buChar char="-"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퍼즐 ID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171450" lvl="0" marL="17145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algun Gothic"/>
                  <a:buChar char="-"/>
                </a:pPr>
                <a:r>
                  <a:rPr lang="en-US" sz="12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퍼즐 오브젝트</a:t>
                </a:r>
                <a:r>
                  <a:rPr b="0" i="0" lang="en-US" sz="12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ID</a:t>
                </a:r>
                <a:endParaRPr/>
              </a:p>
              <a:p>
                <a:pPr indent="-171450" lvl="0" marL="17145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algun Gothic"/>
                  <a:buChar char="-"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분할 개수</a:t>
                </a:r>
                <a:endParaRPr b="0" i="0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-171450" lvl="0" marL="17145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algun Gothic"/>
                  <a:buChar char="-"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섞는 횟수</a:t>
                </a:r>
                <a:endParaRPr b="0" i="0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36" name="Google Shape;436;p20"/>
              <p:cNvSpPr txBox="1"/>
              <p:nvPr/>
            </p:nvSpPr>
            <p:spPr>
              <a:xfrm>
                <a:off x="4961483" y="2563478"/>
                <a:ext cx="2250327" cy="369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슬라이드 퍼즐 필드 테이블</a:t>
                </a:r>
                <a:endParaRPr b="1" i="0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437" name="Google Shape;437;p20"/>
          <p:cNvSpPr/>
          <p:nvPr/>
        </p:nvSpPr>
        <p:spPr>
          <a:xfrm>
            <a:off x="0" y="6661463"/>
            <a:ext cx="12192000" cy="196537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8" name="Google Shape;438;p20"/>
          <p:cNvSpPr/>
          <p:nvPr/>
        </p:nvSpPr>
        <p:spPr>
          <a:xfrm>
            <a:off x="0" y="0"/>
            <a:ext cx="12192000" cy="196537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9" name="Google Shape;439;p20"/>
          <p:cNvSpPr txBox="1"/>
          <p:nvPr/>
        </p:nvSpPr>
        <p:spPr>
          <a:xfrm>
            <a:off x="5463375" y="6628926"/>
            <a:ext cx="126305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Ver.1.0.0</a:t>
            </a:r>
            <a:endParaRPr b="1" i="0" sz="105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40" name="Google Shape;440;p20"/>
          <p:cNvPicPr preferRelativeResize="0"/>
          <p:nvPr/>
        </p:nvPicPr>
        <p:blipFill rotWithShape="1">
          <a:blip r:embed="rId3">
            <a:alphaModFix/>
          </a:blip>
          <a:srcRect b="0" l="0" r="0" t="7980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1" name="Google Shape;441;p20"/>
          <p:cNvCxnSpPr/>
          <p:nvPr/>
        </p:nvCxnSpPr>
        <p:spPr>
          <a:xfrm flipH="1">
            <a:off x="6991971" y="2239083"/>
            <a:ext cx="1696500" cy="12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42" name="Google Shape;442;p20"/>
          <p:cNvSpPr/>
          <p:nvPr/>
        </p:nvSpPr>
        <p:spPr>
          <a:xfrm>
            <a:off x="5194261" y="2121444"/>
            <a:ext cx="1756800" cy="247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3" name="Google Shape;443;p20"/>
          <p:cNvSpPr/>
          <p:nvPr/>
        </p:nvSpPr>
        <p:spPr>
          <a:xfrm>
            <a:off x="1475592" y="2915681"/>
            <a:ext cx="1631700" cy="276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44" name="Google Shape;444;p20"/>
          <p:cNvCxnSpPr/>
          <p:nvPr/>
        </p:nvCxnSpPr>
        <p:spPr>
          <a:xfrm flipH="1">
            <a:off x="3195550" y="2596775"/>
            <a:ext cx="1764600" cy="4659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45" name="Google Shape;445;p20"/>
          <p:cNvSpPr txBox="1"/>
          <p:nvPr/>
        </p:nvSpPr>
        <p:spPr>
          <a:xfrm>
            <a:off x="340455" y="5739954"/>
            <a:ext cx="8290625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iDivideNum은 3X3, 4X4로 분할된다. 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 테이블에서 기본 룰 (라운드, 제한 시간)과 난이도 그룹과 속한 퍼즐을 관리.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필드 테이블에선 해당 퍼즐들의 기본 정보 (오브젝트의 배치, 분할 개수, 섞는 횟수)를 관리.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0"/>
          <p:cNvSpPr txBox="1"/>
          <p:nvPr>
            <p:ph idx="12" type="sldNum"/>
          </p:nvPr>
        </p:nvSpPr>
        <p:spPr>
          <a:xfrm>
            <a:off x="9824484" y="1"/>
            <a:ext cx="2367516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7" name="Google Shape;447;p20"/>
          <p:cNvSpPr txBox="1"/>
          <p:nvPr>
            <p:ph idx="11" type="ftr"/>
          </p:nvPr>
        </p:nvSpPr>
        <p:spPr>
          <a:xfrm>
            <a:off x="0" y="3175"/>
            <a:ext cx="3832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PUZ_07_슬라이드 퍼즐 시스템 기획서</a:t>
            </a:r>
            <a:endParaRPr/>
          </a:p>
        </p:txBody>
      </p:sp>
      <p:sp>
        <p:nvSpPr>
          <p:cNvPr id="448" name="Google Shape;448;p20"/>
          <p:cNvSpPr txBox="1"/>
          <p:nvPr/>
        </p:nvSpPr>
        <p:spPr>
          <a:xfrm>
            <a:off x="157882" y="624365"/>
            <a:ext cx="31576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 테이블 구조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0"/>
          <p:cNvSpPr txBox="1"/>
          <p:nvPr/>
        </p:nvSpPr>
        <p:spPr>
          <a:xfrm>
            <a:off x="361406" y="3560651"/>
            <a:ext cx="60996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NPUZ_07_ObjectData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0" name="Google Shape;450;p20"/>
          <p:cNvSpPr txBox="1"/>
          <p:nvPr/>
        </p:nvSpPr>
        <p:spPr>
          <a:xfrm>
            <a:off x="361406" y="4609153"/>
            <a:ext cx="60996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NPUZ_07_FieldData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451" name="Google Shape;451;p20"/>
          <p:cNvGraphicFramePr/>
          <p:nvPr/>
        </p:nvGraphicFramePr>
        <p:xfrm>
          <a:off x="447674" y="39712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{0C64CCC0-4CA0-4EFC-8886-F6B99C8A4FFF}</a:tableStyleId>
              </a:tblPr>
              <a:tblGrid>
                <a:gridCol w="723925"/>
                <a:gridCol w="2298375"/>
              </a:tblGrid>
              <a:tr h="220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Index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sImagePath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219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인덱스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이미지 경로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2" name="Google Shape;452;p20"/>
          <p:cNvGraphicFramePr/>
          <p:nvPr/>
        </p:nvGraphicFramePr>
        <p:xfrm>
          <a:off x="447674" y="50264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{0C64CCC0-4CA0-4EFC-8886-F6B99C8A4FFF}</a:tableStyleId>
              </a:tblPr>
              <a:tblGrid>
                <a:gridCol w="1259200"/>
                <a:gridCol w="1761700"/>
                <a:gridCol w="1761700"/>
                <a:gridCol w="1761700"/>
              </a:tblGrid>
              <a:tr h="220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Index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sPuzzleObject</a:t>
                      </a:r>
                      <a:r>
                        <a:rPr b="1" lang="en-US" sz="10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iDivideNum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iShuffleNum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219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인덱스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이미지 </a:t>
                      </a:r>
                      <a:r>
                        <a:rPr b="1" lang="en-US" sz="10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그룹ID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분할 개수 (3 or 4)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섞는 횟수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2024-03-28T07:52:26Z</dcterms:created>
  <dc:creator>뉴메틱</dc:creator>
</cp:coreProperties>
</file>